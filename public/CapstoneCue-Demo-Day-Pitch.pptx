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fd576972df4bb7" /><Relationship Type="http://schemas.openxmlformats.org/officeDocument/2006/relationships/extended-properties" Target="/docProps/app.xml" Id="R77ea85958d4a49a4" /><Relationship Type="http://schemas.openxmlformats.org/officeDocument/2006/relationships/officeDocument" Target="/ppt/presentation.xml" Id="R38a3e708bf8d45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3fa86dd22249a2"/>
  </p:sldMasterIdLst>
  <p:notesMasterIdLst>
    <p:notesMasterId xmlns:r="http://schemas.openxmlformats.org/officeDocument/2006/relationships" r:id="R3e0a81487e8245b4"/>
  </p:notesMasterIdLst>
  <p:sldIdLst>
    <p:sldId xmlns:r="http://schemas.openxmlformats.org/officeDocument/2006/relationships" id="256" r:id="Re20bce0aab9043b0"/>
    <p:sldId xmlns:r="http://schemas.openxmlformats.org/officeDocument/2006/relationships" id="257" r:id="R965f1b4266a44378"/>
    <p:sldId xmlns:r="http://schemas.openxmlformats.org/officeDocument/2006/relationships" id="258" r:id="Ra3b77b374ce6426c"/>
    <p:sldId xmlns:r="http://schemas.openxmlformats.org/officeDocument/2006/relationships" id="259" r:id="R00a9a129be184f13"/>
    <p:sldId xmlns:r="http://schemas.openxmlformats.org/officeDocument/2006/relationships" id="260" r:id="Ra8f5c55808da4b5a"/>
    <p:sldId xmlns:r="http://schemas.openxmlformats.org/officeDocument/2006/relationships" id="261" r:id="R88f629efcdd546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d7ffe2badd42de" /><Relationship Type="http://schemas.openxmlformats.org/officeDocument/2006/relationships/slideMaster" Target="/ppt/slideMasters/slideMaster1.xml" Id="Rac3fa86dd22249a2" /><Relationship Type="http://schemas.openxmlformats.org/officeDocument/2006/relationships/notesMaster" Target="/ppt/notesMasters/notesMaster1.xml" Id="R3e0a81487e8245b4" /><Relationship Type="http://schemas.openxmlformats.org/officeDocument/2006/relationships/presProps" Target="/ppt/presProps.xml" Id="R230f5175611c4d52" /><Relationship Type="http://schemas.openxmlformats.org/officeDocument/2006/relationships/tableStyles" Target="/ppt/tableStyles.xml" Id="R62ef8c3ee2f74448" /><Relationship Type="http://schemas.openxmlformats.org/officeDocument/2006/relationships/slide" Target="/ppt/slides/slide1.xml" Id="Re20bce0aab9043b0" /><Relationship Type="http://schemas.openxmlformats.org/officeDocument/2006/relationships/slide" Target="/ppt/slides/slide2.xml" Id="R965f1b4266a44378" /><Relationship Type="http://schemas.openxmlformats.org/officeDocument/2006/relationships/slide" Target="/ppt/slides/slide3.xml" Id="Ra3b77b374ce6426c" /><Relationship Type="http://schemas.openxmlformats.org/officeDocument/2006/relationships/slide" Target="/ppt/slides/slide4.xml" Id="R00a9a129be184f13" /><Relationship Type="http://schemas.openxmlformats.org/officeDocument/2006/relationships/slide" Target="/ppt/slides/slide5.xml" Id="Ra8f5c55808da4b5a" /><Relationship Type="http://schemas.openxmlformats.org/officeDocument/2006/relationships/slide" Target="/ppt/slides/slide6.xml" Id="R88f629efcdd546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4550cb8f4749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fe6b8178eb4984" /><Relationship Type="http://schemas.openxmlformats.org/officeDocument/2006/relationships/notesMaster" Target="/ppt/notesMasters/notesMaster1.xml" Id="Rd43027955dfc45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07f6f223c74e7c" /><Relationship Type="http://schemas.openxmlformats.org/officeDocument/2006/relationships/notesMaster" Target="/ppt/notesMasters/notesMaster1.xml" Id="R1717aac0a65a4a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87335e1cdb4f5e" /><Relationship Type="http://schemas.openxmlformats.org/officeDocument/2006/relationships/notesMaster" Target="/ppt/notesMasters/notesMaster1.xml" Id="R00cf7674126749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625dc7eb094118" /><Relationship Type="http://schemas.openxmlformats.org/officeDocument/2006/relationships/notesMaster" Target="/ppt/notesMasters/notesMaster1.xml" Id="Rfbd8d0f7d0fc4d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37eb7bdefb4bb8" /><Relationship Type="http://schemas.openxmlformats.org/officeDocument/2006/relationships/notesMaster" Target="/ppt/notesMasters/notesMaster1.xml" Id="Reccb895ea29149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1e8dc36b6243c5" /><Relationship Type="http://schemas.openxmlformats.org/officeDocument/2006/relationships/notesMaster" Target="/ppt/notesMasters/notesMaster1.xml" Id="Rc12940ec9fdc48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product hypothesis. Do not claim validation or ten users. Explain that the aim is the last-mile capstone review handoff.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checklist comes from the supplied Project 5 rubric. Treat fragmentation as a hypothesis, not as a user-research finding. The student’s earlier score explains why the problem matters to the founder but is not market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the project checklist, run the public link checks, then use the rehearsal timer. State the limits of the URL checks clearly.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Public sources checked on 27 October 2026: RubricTrail project README, https://github.com/Sion612/rubrictrail ; GitHub Projects documentation, https://docs.github.com/en/issues/planning-and-tracking-with-projects/learning-about-projects/about-projects ; Canvas Enhanced Rubrics guide, https://community.instructure.com/en/kb/articles/661577-unknown ; LaunchProof product site, https://trylaunchproof.com/ . The scan is not exhaustive. RubricTrail is the closest overlap. CapstoneCue’s demo-day focus is only a hypothesis, not a claim of uniqueness.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present pricing as established. The free entry offer, possible team/mentor expansion, and acquisition channel are all hypotheses to test. Keep visits, interviews, and confirmed signups as separate metrics.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the real panel, update this slide with the live Vercel URL, a verified database walkthrough, confirmed account count, interview evidence, and remaining gaps. The ten-user requirement remains incomplete until real people use the deployed app.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5a7d77fa2848b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3df92af722430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ffb259b2d742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7ad692e3f7449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50e2ad6156456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42ed1a0d7f40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8CE47E-E0C0-49F1-9C17-DF90652EC5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E65053-87A7-4E41-9E2F-6D83ECCDC75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9AA00F0-CD0E-4566-BA53-9FC6D05B6F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279827-5218-4938-9A02-736074945A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5464CAA-7CFF-41F9-B626-E63E92A31B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ABA2E03-AC52-42DA-BD4D-FCF23ABE60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1CD9066-4757-4B0A-B0D4-6CAF47C8B1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01F068E-B9B3-4D91-8A31-0DAD3487FED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B92B80F-73CF-4579-8431-AFB80920DF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777EAE2-DB3B-46F0-8321-68E8B110D1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63ed4bd07b4edf" /><Relationship Type="http://schemas.openxmlformats.org/officeDocument/2006/relationships/slideLayout" Target="/ppt/slideLayouts/slideLayout1.xml" Id="Rf097aa70acf04ec2" /><Relationship Type="http://schemas.openxmlformats.org/officeDocument/2006/relationships/slideLayout" Target="/ppt/slideLayouts/slideLayout2.xml" Id="Rc623e387abae4c80" /><Relationship Type="http://schemas.openxmlformats.org/officeDocument/2006/relationships/slideLayout" Target="/ppt/slideLayouts/slideLayout3.xml" Id="R1cd6d93374fc4a67" /><Relationship Type="http://schemas.openxmlformats.org/officeDocument/2006/relationships/slideLayout" Target="/ppt/slideLayouts/slideLayout4.xml" Id="Rf3b88c4c00b64922" /><Relationship Type="http://schemas.openxmlformats.org/officeDocument/2006/relationships/slideLayout" Target="/ppt/slideLayouts/slideLayout5.xml" Id="R05367ef335e24a3e" /><Relationship Type="http://schemas.openxmlformats.org/officeDocument/2006/relationships/slideLayout" Target="/ppt/slideLayouts/slideLayout6.xml" Id="Rdc3df70d0fa34b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97aa70acf04ec2"/>
    <p:sldLayoutId xmlns:r="http://schemas.openxmlformats.org/officeDocument/2006/relationships" id="2147483650" r:id="Rc623e387abae4c80"/>
    <p:sldLayoutId xmlns:r="http://schemas.openxmlformats.org/officeDocument/2006/relationships" id="2147483651" r:id="R1cd6d93374fc4a67"/>
    <p:sldLayoutId xmlns:r="http://schemas.openxmlformats.org/officeDocument/2006/relationships" id="2147483652" r:id="Rf3b88c4c00b64922"/>
    <p:sldLayoutId xmlns:r="http://schemas.openxmlformats.org/officeDocument/2006/relationships" id="2147483653" r:id="R05367ef335e24a3e"/>
    <p:sldLayoutId xmlns:r="http://schemas.openxmlformats.org/officeDocument/2006/relationships" id="2147483654" r:id="Rdc3df70d0fa34b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3f9f89b4874d43" /><Relationship Type="http://schemas.openxmlformats.org/officeDocument/2006/relationships/notesSlide" Target="/ppt/notesSlides/notesSlide1.xml" Id="R772aaa63f2ed49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738abaef694b3b" /><Relationship Type="http://schemas.openxmlformats.org/officeDocument/2006/relationships/notesSlide" Target="/ppt/notesSlides/notesSlide2.xml" Id="R2e1a25c925ee41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e60ece64c54702" /><Relationship Type="http://schemas.openxmlformats.org/officeDocument/2006/relationships/notesSlide" Target="/ppt/notesSlides/notesSlide3.xml" Id="R97640f728a5b41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baea22f3ea494a" /><Relationship Type="http://schemas.openxmlformats.org/officeDocument/2006/relationships/notesSlide" Target="/ppt/notesSlides/notesSlide4.xml" Id="R014cfb42c85740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bf188cee9d46e1" /><Relationship Type="http://schemas.openxmlformats.org/officeDocument/2006/relationships/notesSlide" Target="/ppt/notesSlides/notesSlide5.xml" Id="Reeea0bab05de47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b43bbc09c44dcf" /><Relationship Type="http://schemas.openxmlformats.org/officeDocument/2006/relationships/notesSlide" Target="/ppt/notesSlides/notesSlide6.xml" Id="R22788c68ad7b42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2D5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orbit-large">
            <a:extLst xmlns:a="http://schemas.openxmlformats.org/drawingml/2006/main">
              <a:ext uri="{FF2B5EF4-FFF2-40B4-BE49-F238E27FC236}">
                <a16:creationId xmlns:a16="http://schemas.microsoft.com/office/drawing/2014/main" id="{4C84A3E8-6387-4BB4-BC9A-651CBBDC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-2143125"/>
            <a:ext cx="5619750" cy="5619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10196"/>
              </a:srgbClr>
            </a:solidFill>
            <a:prstDash val="solid"/>
          </a:ln>
        </p:spPr>
      </p:sp>
      <p:sp>
        <p:nvSpPr>
          <p:cNvPr id="2" name="orbit-mid">
            <a:extLst xmlns:a="http://schemas.openxmlformats.org/drawingml/2006/main">
              <a:ext uri="{FF2B5EF4-FFF2-40B4-BE49-F238E27FC236}">
                <a16:creationId xmlns:a16="http://schemas.microsoft.com/office/drawing/2014/main" id="{A4D14FD6-C4C3-442B-B978-A48EFED0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-1438275"/>
            <a:ext cx="4191000" cy="4191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8627"/>
              </a:srgbClr>
            </a:solidFill>
            <a:prstDash val="solid"/>
          </a:ln>
        </p:spPr>
      </p:sp>
      <p:sp>
        <p:nvSpPr>
          <p:cNvPr id="3" name="orbit-small">
            <a:extLst xmlns:a="http://schemas.openxmlformats.org/drawingml/2006/main">
              <a:ext uri="{FF2B5EF4-FFF2-40B4-BE49-F238E27FC236}">
                <a16:creationId xmlns:a16="http://schemas.microsoft.com/office/drawing/2014/main" id="{98B7AF72-C206-4B57-B6F8-7712E29B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-666750"/>
            <a:ext cx="2667000" cy="2667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7059"/>
              </a:srgbClr>
            </a:solidFill>
            <a:prstDash val="solid"/>
          </a:ln>
        </p:spPr>
      </p:sp>
      <p:sp>
        <p:nvSpPr>
          <p:cNvPr id="4" name="brand-dot-1">
            <a:extLst xmlns:a="http://schemas.openxmlformats.org/drawingml/2006/main">
              <a:ext uri="{FF2B5EF4-FFF2-40B4-BE49-F238E27FC236}">
                <a16:creationId xmlns:a16="http://schemas.microsoft.com/office/drawing/2014/main" id="{C39B97E3-7D71-475E-8BB5-E7528C87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9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rand-c-1">
            <a:extLst xmlns:a="http://schemas.openxmlformats.org/drawingml/2006/main">
              <a:ext uri="{FF2B5EF4-FFF2-40B4-BE49-F238E27FC236}">
                <a16:creationId xmlns:a16="http://schemas.microsoft.com/office/drawing/2014/main" id="{3AF7ED49-77C0-42D9-9B26-1104F776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428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" name="deck-label-1">
            <a:extLst xmlns:a="http://schemas.openxmlformats.org/drawingml/2006/main">
              <a:ext uri="{FF2B5EF4-FFF2-40B4-BE49-F238E27FC236}">
                <a16:creationId xmlns:a16="http://schemas.microsoft.com/office/drawing/2014/main" id="{6F5C84DC-B243-48CD-8AEC-EFB17995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76250"/>
            <a:ext cx="428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C8D4E9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C8D4E9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C8D4E9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C8D4E9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C8D4E9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C8D4E9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C8D4E9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C8D4E9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C8D4E9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C8D4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8D4E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C8D4E9"/>
                </a:solidFill>
                <a:latin typeface="Arial"/>
                <a:ea typeface="Arial"/>
                <a:cs typeface="Arial"/>
              </a:rPr>
              <a:t>CAPSTONECUE</a:t>
            </a:r>
          </a:p>
        </p:txBody>
      </p:sp>
      <p:sp>
        <p:nvSpPr>
          <p:cNvPr id="7" name="slide-number-1">
            <a:extLst xmlns:a="http://schemas.openxmlformats.org/drawingml/2006/main">
              <a:ext uri="{FF2B5EF4-FFF2-40B4-BE49-F238E27FC236}">
                <a16:creationId xmlns:a16="http://schemas.microsoft.com/office/drawing/2014/main" id="{7A08FC24-BBAF-4D16-B991-02B37062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1">
                <a:solidFill>
                  <a:srgbClr val="9FB0D0"/>
                </a:solidFill>
                <a:latin typeface="Arial"/>
                <a:ea typeface="Arial"/>
                <a:cs typeface="Arial"/>
              </a:defRPr>
            </a:defPPr>
            <a:lvl1pPr algn="r">
              <a:defRPr sz="675" b="1">
                <a:solidFill>
                  <a:srgbClr val="9FB0D0"/>
                </a:solidFill>
                <a:latin typeface="Arial"/>
                <a:ea typeface="Arial"/>
                <a:cs typeface="Arial"/>
              </a:defRPr>
            </a:lvl1pPr>
            <a:lvl2pPr algn="r">
              <a:defRPr sz="675" b="1">
                <a:solidFill>
                  <a:srgbClr val="9FB0D0"/>
                </a:solidFill>
                <a:latin typeface="Arial"/>
                <a:ea typeface="Arial"/>
                <a:cs typeface="Arial"/>
              </a:defRPr>
            </a:lvl2pPr>
            <a:lvl3pPr algn="r">
              <a:defRPr sz="675" b="1">
                <a:solidFill>
                  <a:srgbClr val="9FB0D0"/>
                </a:solidFill>
                <a:latin typeface="Arial"/>
                <a:ea typeface="Arial"/>
                <a:cs typeface="Arial"/>
              </a:defRPr>
            </a:lvl3pPr>
            <a:lvl4pPr algn="r">
              <a:defRPr sz="675" b="1">
                <a:solidFill>
                  <a:srgbClr val="9FB0D0"/>
                </a:solidFill>
                <a:latin typeface="Arial"/>
                <a:ea typeface="Arial"/>
                <a:cs typeface="Arial"/>
              </a:defRPr>
            </a:lvl4pPr>
            <a:lvl5pPr algn="r">
              <a:defRPr sz="675" b="1">
                <a:solidFill>
                  <a:srgbClr val="9FB0D0"/>
                </a:solidFill>
                <a:latin typeface="Arial"/>
                <a:ea typeface="Arial"/>
                <a:cs typeface="Arial"/>
              </a:defRPr>
            </a:lvl5pPr>
            <a:lvl6pPr algn="r">
              <a:defRPr sz="675" b="1">
                <a:solidFill>
                  <a:srgbClr val="9FB0D0"/>
                </a:solidFill>
                <a:latin typeface="Arial"/>
                <a:ea typeface="Arial"/>
                <a:cs typeface="Arial"/>
              </a:defRPr>
            </a:lvl6pPr>
            <a:lvl7pPr algn="r">
              <a:defRPr sz="675" b="1">
                <a:solidFill>
                  <a:srgbClr val="9FB0D0"/>
                </a:solidFill>
                <a:latin typeface="Arial"/>
                <a:ea typeface="Arial"/>
                <a:cs typeface="Arial"/>
              </a:defRPr>
            </a:lvl7pPr>
            <a:lvl8pPr algn="r">
              <a:defRPr sz="675" b="1">
                <a:solidFill>
                  <a:srgbClr val="9FB0D0"/>
                </a:solidFill>
                <a:latin typeface="Arial"/>
                <a:ea typeface="Arial"/>
                <a:cs typeface="Arial"/>
              </a:defRPr>
            </a:lvl8pPr>
            <a:lvl9pPr algn="r">
              <a:defRPr sz="675" b="1">
                <a:solidFill>
                  <a:srgbClr val="9FB0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675" b="1">
                <a:solidFill>
                  <a:srgbClr val="9FB0D0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9FB0D0"/>
                </a:solidFill>
                <a:latin typeface="Arial"/>
                <a:ea typeface="Arial"/>
                <a:cs typeface="Arial"/>
              </a:rPr>
              <a:t>01 / 06</a:t>
            </a:r>
          </a:p>
        </p:txBody>
      </p:sp>
      <p:sp>
        <p:nvSpPr>
          <p:cNvPr id="8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2720EBED-6944-428F-97C5-62DB1933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C7D4EF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C7D4EF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C7D4EF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C7D4EF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C7D4EF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C7D4EF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C7D4EF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C7D4EF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C7D4EF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C7D4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7D4E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D4EF"/>
                </a:solidFill>
                <a:latin typeface="Arial"/>
                <a:ea typeface="Arial"/>
                <a:cs typeface="Arial"/>
              </a:rPr>
              <a:t>CAPSTONE DEMO-DAY TOOLKIT</a:t>
            </a:r>
          </a:p>
        </p:txBody>
      </p:sp>
      <p:sp>
        <p:nvSpPr>
          <p:cNvPr id="9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01AB25A-42CE-4090-9B56-206670F2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7334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4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Rehearse the demo.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4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Prove the launch.</a:t>
            </a:r>
          </a:p>
        </p:txBody>
      </p:sp>
      <p:sp>
        <p:nvSpPr>
          <p:cNvPr id="10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E80EF8B-2B5D-4706-98D1-12639A36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10025"/>
            <a:ext cx="6286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1DCF0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D1DCF0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D1DCF0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D1DCF0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D1DCF0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D1DCF0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D1DCF0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D1DCF0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D1DCF0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D1DCF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D1DCF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1DCF0"/>
                </a:solidFill>
                <a:latin typeface="Arial"/>
                <a:ea typeface="Arial"/>
                <a:cs typeface="Arial"/>
              </a:rPr>
              <a:t>A final preflight for the links, evidence, and three minutes behind a software capstone.</a:t>
            </a:r>
          </a:p>
        </p:txBody>
      </p:sp>
      <p:sp>
        <p:nvSpPr>
          <p:cNvPr id="11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2E8F6AB3-287A-42B1-8009-F0393322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4000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C6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ver-note">
            <a:extLst xmlns:a="http://schemas.openxmlformats.org/drawingml/2006/main">
              <a:ext uri="{FF2B5EF4-FFF2-40B4-BE49-F238E27FC236}">
                <a16:creationId xmlns:a16="http://schemas.microsoft.com/office/drawing/2014/main" id="{6E008662-8DD0-4FC1-AD0F-D33236AE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B9C7E1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B9C7E1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B9C7E1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B9C7E1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B9C7E1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B9C7E1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B9C7E1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B9C7E1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B9C7E1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B9C7E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B9C7E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9C7E1"/>
                </a:solidFill>
                <a:latin typeface="Arial"/>
                <a:ea typeface="Arial"/>
                <a:cs typeface="Arial"/>
              </a:rPr>
              <a:t>Early product hypothesis  ·  student research still needed</a:t>
            </a:r>
          </a:p>
        </p:txBody>
      </p:sp>
      <p:sp>
        <p:nvSpPr>
          <p:cNvPr id="13" name="cover-stage-1">
            <a:extLst xmlns:a="http://schemas.openxmlformats.org/drawingml/2006/main">
              <a:ext uri="{FF2B5EF4-FFF2-40B4-BE49-F238E27FC236}">
                <a16:creationId xmlns:a16="http://schemas.microsoft.com/office/drawing/2014/main" id="{471453A2-A8C4-4E1E-A0BC-C667D143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528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E7EDFA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E7EDFA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E7EDFA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E7EDFA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E7EDFA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E7EDFA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E7EDFA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E7EDFA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E7EDFA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E7ED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E7EDF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7EDFA"/>
                </a:solidFill>
                <a:latin typeface="Arial"/>
                <a:ea typeface="Arial"/>
                <a:cs typeface="Arial"/>
              </a:rPr>
              <a:t>01  COLLECT</a:t>
            </a:r>
          </a:p>
        </p:txBody>
      </p:sp>
      <p:sp>
        <p:nvSpPr>
          <p:cNvPr id="14" name="cover-stage-2">
            <a:extLst xmlns:a="http://schemas.openxmlformats.org/drawingml/2006/main">
              <a:ext uri="{FF2B5EF4-FFF2-40B4-BE49-F238E27FC236}">
                <a16:creationId xmlns:a16="http://schemas.microsoft.com/office/drawing/2014/main" id="{89DD944F-7C73-4DA1-B5DE-80C5B05A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E7EDFA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E7EDFA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E7EDFA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E7EDFA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E7EDFA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E7EDFA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E7EDFA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E7EDFA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E7EDFA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E7ED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E7EDF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7EDFA"/>
                </a:solidFill>
                <a:latin typeface="Arial"/>
                <a:ea typeface="Arial"/>
                <a:cs typeface="Arial"/>
              </a:rPr>
              <a:t>02  VERIFY</a:t>
            </a:r>
          </a:p>
        </p:txBody>
      </p:sp>
      <p:sp>
        <p:nvSpPr>
          <p:cNvPr id="15" name="cover-stage-3">
            <a:extLst xmlns:a="http://schemas.openxmlformats.org/drawingml/2006/main">
              <a:ext uri="{FF2B5EF4-FFF2-40B4-BE49-F238E27FC236}">
                <a16:creationId xmlns:a16="http://schemas.microsoft.com/office/drawing/2014/main" id="{0E525C22-1652-4917-AC95-F3EC918E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3865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E7EDFA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E7EDFA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E7EDFA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E7EDFA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E7EDFA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E7EDFA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E7EDFA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E7EDFA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E7EDFA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E7ED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E7EDF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7EDFA"/>
                </a:solidFill>
                <a:latin typeface="Arial"/>
                <a:ea typeface="Arial"/>
                <a:cs typeface="Arial"/>
              </a:rPr>
              <a:t>03  REHEARSE</a:t>
            </a:r>
          </a:p>
        </p:txBody>
      </p:sp>
      <p:sp>
        <p:nvSpPr>
          <p:cNvPr id="16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ADF9B97B-1844-424D-81C7-D743C8D5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51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brand-1">
            <a:extLst xmlns:a="http://schemas.openxmlformats.org/drawingml/2006/main">
              <a:ext uri="{FF2B5EF4-FFF2-40B4-BE49-F238E27FC236}">
                <a16:creationId xmlns:a16="http://schemas.microsoft.com/office/drawing/2014/main" id="{A539E56F-0C67-4FC3-8F94-B9F81ECC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00" b="1">
                <a:solidFill>
                  <a:srgbClr val="B4C1DB"/>
                </a:solidFill>
                <a:latin typeface="Arial"/>
                <a:ea typeface="Arial"/>
                <a:cs typeface="Arial"/>
              </a:defRPr>
            </a:defPPr>
            <a:lvl1pPr algn="l">
              <a:defRPr sz="600" b="1">
                <a:solidFill>
                  <a:srgbClr val="B4C1DB"/>
                </a:solidFill>
                <a:latin typeface="Arial"/>
                <a:ea typeface="Arial"/>
                <a:cs typeface="Arial"/>
              </a:defRPr>
            </a:lvl1pPr>
            <a:lvl2pPr algn="l">
              <a:defRPr sz="600" b="1">
                <a:solidFill>
                  <a:srgbClr val="B4C1DB"/>
                </a:solidFill>
                <a:latin typeface="Arial"/>
                <a:ea typeface="Arial"/>
                <a:cs typeface="Arial"/>
              </a:defRPr>
            </a:lvl2pPr>
            <a:lvl3pPr algn="l">
              <a:defRPr sz="600" b="1">
                <a:solidFill>
                  <a:srgbClr val="B4C1DB"/>
                </a:solidFill>
                <a:latin typeface="Arial"/>
                <a:ea typeface="Arial"/>
                <a:cs typeface="Arial"/>
              </a:defRPr>
            </a:lvl3pPr>
            <a:lvl4pPr algn="l">
              <a:defRPr sz="600" b="1">
                <a:solidFill>
                  <a:srgbClr val="B4C1DB"/>
                </a:solidFill>
                <a:latin typeface="Arial"/>
                <a:ea typeface="Arial"/>
                <a:cs typeface="Arial"/>
              </a:defRPr>
            </a:lvl4pPr>
            <a:lvl5pPr algn="l">
              <a:defRPr sz="600" b="1">
                <a:solidFill>
                  <a:srgbClr val="B4C1DB"/>
                </a:solidFill>
                <a:latin typeface="Arial"/>
                <a:ea typeface="Arial"/>
                <a:cs typeface="Arial"/>
              </a:defRPr>
            </a:lvl5pPr>
            <a:lvl6pPr algn="l">
              <a:defRPr sz="600" b="1">
                <a:solidFill>
                  <a:srgbClr val="B4C1DB"/>
                </a:solidFill>
                <a:latin typeface="Arial"/>
                <a:ea typeface="Arial"/>
                <a:cs typeface="Arial"/>
              </a:defRPr>
            </a:lvl6pPr>
            <a:lvl7pPr algn="l">
              <a:defRPr sz="600" b="1">
                <a:solidFill>
                  <a:srgbClr val="B4C1DB"/>
                </a:solidFill>
                <a:latin typeface="Arial"/>
                <a:ea typeface="Arial"/>
                <a:cs typeface="Arial"/>
              </a:defRPr>
            </a:lvl7pPr>
            <a:lvl8pPr algn="l">
              <a:defRPr sz="600" b="1">
                <a:solidFill>
                  <a:srgbClr val="B4C1DB"/>
                </a:solidFill>
                <a:latin typeface="Arial"/>
                <a:ea typeface="Arial"/>
                <a:cs typeface="Arial"/>
              </a:defRPr>
            </a:lvl8pPr>
            <a:lvl9pPr algn="l">
              <a:defRPr sz="600" b="1">
                <a:solidFill>
                  <a:srgbClr val="B4C1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600" b="1">
                <a:solidFill>
                  <a:srgbClr val="B4C1DB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B4C1DB"/>
                </a:solidFill>
                <a:latin typeface="Arial"/>
                <a:ea typeface="Arial"/>
                <a:cs typeface="Arial"/>
              </a:rPr>
              <a:t>CAPSTONECUE  ·  DEMO-DAY PREFLIGHT</a:t>
            </a:r>
          </a:p>
        </p:txBody>
      </p:sp>
    </p:spTree>
    <p:extLst>
      <p:ext uri="{BB962C8B-B14F-4D97-AF65-F5344CB8AC3E}">
        <p14:creationId xmlns:p14="http://schemas.microsoft.com/office/powerpoint/2010/main" val="868121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brand-dot-2">
            <a:extLst xmlns:a="http://schemas.openxmlformats.org/drawingml/2006/main">
              <a:ext uri="{FF2B5EF4-FFF2-40B4-BE49-F238E27FC236}">
                <a16:creationId xmlns:a16="http://schemas.microsoft.com/office/drawing/2014/main" id="{6DA36A89-1CDE-41CA-A53D-79A4BD27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c-2">
            <a:extLst xmlns:a="http://schemas.openxmlformats.org/drawingml/2006/main">
              <a:ext uri="{FF2B5EF4-FFF2-40B4-BE49-F238E27FC236}">
                <a16:creationId xmlns:a16="http://schemas.microsoft.com/office/drawing/2014/main" id="{FE0879E3-C015-470D-B6BD-83D9158F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428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" name="deck-label-2">
            <a:extLst xmlns:a="http://schemas.openxmlformats.org/drawingml/2006/main">
              <a:ext uri="{FF2B5EF4-FFF2-40B4-BE49-F238E27FC236}">
                <a16:creationId xmlns:a16="http://schemas.microsoft.com/office/drawing/2014/main" id="{241AA445-B2EF-47B5-8C81-7F065DDC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76250"/>
            <a:ext cx="428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386B6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4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B6B3AA52-E704-45B8-A87E-D40A386B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defPPr>
            <a:lvl1pPr algn="r"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lvl1pPr>
            <a:lvl2pPr algn="r"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lvl2pPr>
            <a:lvl3pPr algn="r"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lvl3pPr>
            <a:lvl4pPr algn="r"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lvl4pPr>
            <a:lvl5pPr algn="r"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lvl5pPr>
            <a:lvl6pPr algn="r"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lvl6pPr>
            <a:lvl7pPr algn="r"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lvl7pPr>
            <a:lvl8pPr algn="r"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lvl8pPr>
            <a:lvl9pPr algn="r"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A1AAB8"/>
                </a:solidFill>
                <a:latin typeface="Arial"/>
                <a:ea typeface="Arial"/>
                <a:cs typeface="Arial"/>
              </a:rPr>
              <a:t>02 / 06</a:t>
            </a:r>
          </a:p>
        </p:txBody>
      </p:sp>
      <p:sp>
        <p:nvSpPr>
          <p:cNvPr id="5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71DEACDD-CE75-48B4-85A9-9BB08284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763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105"/>
          </a:bodyPr>
          <a:lstStyle xmlns:a="http://schemas.openxmlformats.org/drawingml/2006/main">
            <a:defPPr algn="l">
              <a:defRPr sz="32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541"/>
                </a:solidFill>
                <a:latin typeface="Arial"/>
                <a:ea typeface="Arial"/>
                <a:cs typeface="Arial"/>
              </a:rPr>
              <a:t>The build can be ready.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2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541"/>
                </a:solidFill>
                <a:latin typeface="Arial"/>
                <a:ea typeface="Arial"/>
                <a:cs typeface="Arial"/>
              </a:rPr>
              <a:t>The proof may still be scattered.</a:t>
            </a:r>
          </a:p>
        </p:txBody>
      </p:sp>
      <p:sp>
        <p:nvSpPr>
          <p:cNvPr id="6" name="problem-intro">
            <a:extLst xmlns:a="http://schemas.openxmlformats.org/drawingml/2006/main">
              <a:ext uri="{FF2B5EF4-FFF2-40B4-BE49-F238E27FC236}">
                <a16:creationId xmlns:a16="http://schemas.microsoft.com/office/drawing/2014/main" id="{37274939-B637-4557-9293-954FD5A3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3819A"/>
                </a:solidFill>
                <a:latin typeface="Arial"/>
                <a:ea typeface="Arial"/>
                <a:cs typeface="Arial"/>
              </a:rPr>
              <a:t>A capstone review asks a student to show more than a running screen.</a:t>
            </a:r>
          </a:p>
        </p:txBody>
      </p:sp>
      <p:sp>
        <p:nvSpPr>
          <p:cNvPr id="7" name="problem-quote-bg">
            <a:extLst xmlns:a="http://schemas.openxmlformats.org/drawingml/2006/main">
              <a:ext uri="{FF2B5EF4-FFF2-40B4-BE49-F238E27FC236}">
                <a16:creationId xmlns:a16="http://schemas.microsoft.com/office/drawing/2014/main" id="{A01B15A9-C80E-4A46-AF72-4ABBBFA5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44577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blem-quote-line">
            <a:extLst xmlns:a="http://schemas.openxmlformats.org/drawingml/2006/main">
              <a:ext uri="{FF2B5EF4-FFF2-40B4-BE49-F238E27FC236}">
                <a16:creationId xmlns:a16="http://schemas.microsoft.com/office/drawing/2014/main" id="{968D126B-ADBF-45FF-B524-2D5287C4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4762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oblem-quote">
            <a:extLst xmlns:a="http://schemas.openxmlformats.org/drawingml/2006/main">
              <a:ext uri="{FF2B5EF4-FFF2-40B4-BE49-F238E27FC236}">
                <a16:creationId xmlns:a16="http://schemas.microsoft.com/office/drawing/2014/main" id="{1FC860BA-67C7-4781-8B67-9DE7B8CE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3857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B416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2B416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2B416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2B416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2B416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2B416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2B416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2B416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2B416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2B416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B416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B416E"/>
                </a:solidFill>
                <a:latin typeface="Arial"/>
                <a:ea typeface="Arial"/>
                <a:cs typeface="Arial"/>
              </a:rPr>
              <a:t>“Can I prove the app is live, the data saves, and the demo fits three minutes?”</a:t>
            </a:r>
          </a:p>
        </p:txBody>
      </p:sp>
      <p:sp>
        <p:nvSpPr>
          <p:cNvPr id="10" name="problem-source">
            <a:extLst xmlns:a="http://schemas.openxmlformats.org/drawingml/2006/main">
              <a:ext uri="{FF2B5EF4-FFF2-40B4-BE49-F238E27FC236}">
                <a16:creationId xmlns:a16="http://schemas.microsoft.com/office/drawing/2014/main" id="{0F7DE34F-5AB8-47E5-9669-13378A8D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7700"/>
            <a:ext cx="3714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8998B6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8998B6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8998B6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8998B6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8998B6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8998B6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8998B6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8998B6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8998B6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8998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8998B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998B6"/>
                </a:solidFill>
                <a:latin typeface="Arial"/>
                <a:ea typeface="Arial"/>
                <a:cs typeface="Arial"/>
              </a:rPr>
              <a:t>PROJECT 5 SUBMISSION REQUIREMENTS</a:t>
            </a:r>
          </a:p>
        </p:txBody>
      </p:sp>
      <p:sp>
        <p:nvSpPr>
          <p:cNvPr id="11" name="problem-row-mark-0">
            <a:extLst xmlns:a="http://schemas.openxmlformats.org/drawingml/2006/main">
              <a:ext uri="{FF2B5EF4-FFF2-40B4-BE49-F238E27FC236}">
                <a16:creationId xmlns:a16="http://schemas.microsoft.com/office/drawing/2014/main" id="{4D51243B-01BB-4B2D-95BF-77A2F9B8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086100"/>
            <a:ext cx="47625" cy="29527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16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oblem-row-title-0">
            <a:extLst xmlns:a="http://schemas.openxmlformats.org/drawingml/2006/main">
              <a:ext uri="{FF2B5EF4-FFF2-40B4-BE49-F238E27FC236}">
                <a16:creationId xmlns:a16="http://schemas.microsoft.com/office/drawing/2014/main" id="{F74BAAEE-1F77-4C9B-BB4A-4B574205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048000"/>
            <a:ext cx="190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541"/>
                </a:solidFill>
                <a:latin typeface="Arial"/>
                <a:ea typeface="Arial"/>
                <a:cs typeface="Arial"/>
              </a:rPr>
              <a:t>SOURCE CODE</a:t>
            </a:r>
          </a:p>
        </p:txBody>
      </p:sp>
      <p:sp>
        <p:nvSpPr>
          <p:cNvPr id="13" name="problem-row-detail-0">
            <a:extLst xmlns:a="http://schemas.openxmlformats.org/drawingml/2006/main">
              <a:ext uri="{FF2B5EF4-FFF2-40B4-BE49-F238E27FC236}">
                <a16:creationId xmlns:a16="http://schemas.microsoft.com/office/drawing/2014/main" id="{0CA33E6D-3180-47EE-B4CB-E487256D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38500"/>
            <a:ext cx="4857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3819A"/>
                </a:solidFill>
                <a:latin typeface="Arial"/>
                <a:ea typeface="Arial"/>
                <a:cs typeface="Arial"/>
              </a:rPr>
              <a:t>Public repository with complete setup steps</a:t>
            </a:r>
          </a:p>
        </p:txBody>
      </p:sp>
      <p:sp>
        <p:nvSpPr>
          <p:cNvPr id="14" name="problem-row-line-0">
            <a:extLst xmlns:a="http://schemas.openxmlformats.org/drawingml/2006/main">
              <a:ext uri="{FF2B5EF4-FFF2-40B4-BE49-F238E27FC236}">
                <a16:creationId xmlns:a16="http://schemas.microsoft.com/office/drawing/2014/main" id="{A7BDEE14-EF69-48D4-87D5-5B9C0DBE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49567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oblem-row-mark-1">
            <a:extLst xmlns:a="http://schemas.openxmlformats.org/drawingml/2006/main">
              <a:ext uri="{FF2B5EF4-FFF2-40B4-BE49-F238E27FC236}">
                <a16:creationId xmlns:a16="http://schemas.microsoft.com/office/drawing/2014/main" id="{048AEF3C-37A3-4A54-B5BE-C117515E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638550"/>
            <a:ext cx="47625" cy="29527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0A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roblem-row-title-1">
            <a:extLst xmlns:a="http://schemas.openxmlformats.org/drawingml/2006/main">
              <a:ext uri="{FF2B5EF4-FFF2-40B4-BE49-F238E27FC236}">
                <a16:creationId xmlns:a16="http://schemas.microsoft.com/office/drawing/2014/main" id="{5D6E9BEE-1F39-4D8B-8113-684363CB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600450"/>
            <a:ext cx="190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541"/>
                </a:solidFill>
                <a:latin typeface="Arial"/>
                <a:ea typeface="Arial"/>
                <a:cs typeface="Arial"/>
              </a:rPr>
              <a:t>LIVE PRODUCT</a:t>
            </a:r>
          </a:p>
        </p:txBody>
      </p:sp>
      <p:sp>
        <p:nvSpPr>
          <p:cNvPr id="17" name="problem-row-detail-1">
            <a:extLst xmlns:a="http://schemas.openxmlformats.org/drawingml/2006/main">
              <a:ext uri="{FF2B5EF4-FFF2-40B4-BE49-F238E27FC236}">
                <a16:creationId xmlns:a16="http://schemas.microsoft.com/office/drawing/2014/main" id="{FD3800F6-F62A-4FAA-B1A2-92BBCED5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790950"/>
            <a:ext cx="4857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3819A"/>
                </a:solidFill>
                <a:latin typeface="Arial"/>
                <a:ea typeface="Arial"/>
                <a:cs typeface="Arial"/>
              </a:rPr>
              <a:t>Public URL a reviewer can open</a:t>
            </a:r>
          </a:p>
        </p:txBody>
      </p:sp>
      <p:sp>
        <p:nvSpPr>
          <p:cNvPr id="18" name="problem-row-line-1">
            <a:extLst xmlns:a="http://schemas.openxmlformats.org/drawingml/2006/main">
              <a:ext uri="{FF2B5EF4-FFF2-40B4-BE49-F238E27FC236}">
                <a16:creationId xmlns:a16="http://schemas.microsoft.com/office/drawing/2014/main" id="{94DC81F1-09CE-43D9-AAE4-0CCF186E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04812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roblem-row-mark-2">
            <a:extLst xmlns:a="http://schemas.openxmlformats.org/drawingml/2006/main">
              <a:ext uri="{FF2B5EF4-FFF2-40B4-BE49-F238E27FC236}">
                <a16:creationId xmlns:a16="http://schemas.microsoft.com/office/drawing/2014/main" id="{04A673AB-9CCC-477A-9BC0-4F6B86AF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191000"/>
            <a:ext cx="47625" cy="29527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8B6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oblem-row-title-2">
            <a:extLst xmlns:a="http://schemas.openxmlformats.org/drawingml/2006/main">
              <a:ext uri="{FF2B5EF4-FFF2-40B4-BE49-F238E27FC236}">
                <a16:creationId xmlns:a16="http://schemas.microsoft.com/office/drawing/2014/main" id="{35EBDCAA-7DC9-43D8-88C1-4BD757F2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152900"/>
            <a:ext cx="190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541"/>
                </a:solidFill>
                <a:latin typeface="Arial"/>
                <a:ea typeface="Arial"/>
                <a:cs typeface="Arial"/>
              </a:rPr>
              <a:t>DATABASE</a:t>
            </a:r>
          </a:p>
        </p:txBody>
      </p:sp>
      <p:sp>
        <p:nvSpPr>
          <p:cNvPr id="21" name="problem-row-detail-2">
            <a:extLst xmlns:a="http://schemas.openxmlformats.org/drawingml/2006/main">
              <a:ext uri="{FF2B5EF4-FFF2-40B4-BE49-F238E27FC236}">
                <a16:creationId xmlns:a16="http://schemas.microsoft.com/office/drawing/2014/main" id="{7B60F973-7489-4228-8C53-1A0F085B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43400"/>
            <a:ext cx="4857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3819A"/>
                </a:solidFill>
                <a:latin typeface="Arial"/>
                <a:ea typeface="Arial"/>
                <a:cs typeface="Arial"/>
              </a:rPr>
              <a:t>A real change persists after refresh</a:t>
            </a:r>
          </a:p>
        </p:txBody>
      </p:sp>
      <p:sp>
        <p:nvSpPr>
          <p:cNvPr id="22" name="problem-row-line-2">
            <a:extLst xmlns:a="http://schemas.openxmlformats.org/drawingml/2006/main">
              <a:ext uri="{FF2B5EF4-FFF2-40B4-BE49-F238E27FC236}">
                <a16:creationId xmlns:a16="http://schemas.microsoft.com/office/drawing/2014/main" id="{19245683-5D57-409F-9433-17AE85B5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60057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roblem-row-mark-3">
            <a:extLst xmlns:a="http://schemas.openxmlformats.org/drawingml/2006/main">
              <a:ext uri="{FF2B5EF4-FFF2-40B4-BE49-F238E27FC236}">
                <a16:creationId xmlns:a16="http://schemas.microsoft.com/office/drawing/2014/main" id="{2136CAF6-967F-437A-9DF3-F63BAAAF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743450"/>
            <a:ext cx="47625" cy="29527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7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roblem-row-title-3">
            <a:extLst xmlns:a="http://schemas.openxmlformats.org/drawingml/2006/main">
              <a:ext uri="{FF2B5EF4-FFF2-40B4-BE49-F238E27FC236}">
                <a16:creationId xmlns:a16="http://schemas.microsoft.com/office/drawing/2014/main" id="{3C2C1532-E8FB-438D-8B22-E0522D7B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705350"/>
            <a:ext cx="1905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541"/>
                </a:solidFill>
                <a:latin typeface="Arial"/>
                <a:ea typeface="Arial"/>
                <a:cs typeface="Arial"/>
              </a:rPr>
              <a:t>USERS + DEMO</a:t>
            </a:r>
          </a:p>
        </p:txBody>
      </p:sp>
      <p:sp>
        <p:nvSpPr>
          <p:cNvPr id="25" name="problem-row-detail-3">
            <a:extLst xmlns:a="http://schemas.openxmlformats.org/drawingml/2006/main">
              <a:ext uri="{FF2B5EF4-FFF2-40B4-BE49-F238E27FC236}">
                <a16:creationId xmlns:a16="http://schemas.microsoft.com/office/drawing/2014/main" id="{7848F078-D515-4025-A540-7B26A6EA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895850"/>
            <a:ext cx="4857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3819A"/>
                </a:solidFill>
                <a:latin typeface="Arial"/>
                <a:ea typeface="Arial"/>
                <a:cs typeface="Arial"/>
              </a:rPr>
              <a:t>Actual signups, slides, and rehearsal</a:t>
            </a:r>
          </a:p>
        </p:txBody>
      </p:sp>
      <p:sp>
        <p:nvSpPr>
          <p:cNvPr id="26" name="problem-hypothesis">
            <a:extLst xmlns:a="http://schemas.openxmlformats.org/drawingml/2006/main">
              <a:ext uri="{FF2B5EF4-FFF2-40B4-BE49-F238E27FC236}">
                <a16:creationId xmlns:a16="http://schemas.microsoft.com/office/drawing/2014/main" id="{D39F8E5B-DBC0-4A04-895C-43BB96D5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006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F75AE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5F75AE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5F75AE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5F75AE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5F75AE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5F75AE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5F75AE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5F75AE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5F75AE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5F75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F75AE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75AE"/>
                </a:solidFill>
                <a:latin typeface="Arial"/>
                <a:ea typeface="Arial"/>
                <a:cs typeface="Arial"/>
              </a:rPr>
              <a:t>Problem hypothesis: final review evidence is fragmented. Interviews are still needed to confirm how often this happens.</a:t>
            </a:r>
          </a:p>
        </p:txBody>
      </p:sp>
      <p:sp>
        <p:nvSpPr>
          <p:cNvPr id="27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95681F06-3A2C-4EBF-8548-478A2EA0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6581E7F0-92C2-406D-B8E5-917336C9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defPPr>
            <a:lvl1pPr algn="l"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lvl1pPr>
            <a:lvl2pPr algn="l"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lvl2pPr>
            <a:lvl3pPr algn="l"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lvl3pPr>
            <a:lvl4pPr algn="l"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lvl4pPr>
            <a:lvl5pPr algn="l"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lvl5pPr>
            <a:lvl6pPr algn="l"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lvl6pPr>
            <a:lvl7pPr algn="l"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lvl7pPr>
            <a:lvl8pPr algn="l"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lvl8pPr>
            <a:lvl9pPr algn="l"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96A1B1"/>
                </a:solidFill>
                <a:latin typeface="Arial"/>
                <a:ea typeface="Arial"/>
                <a:cs typeface="Arial"/>
              </a:rPr>
              <a:t>CAPSTONECUE  ·  DEMO-DAY PREFLIGHT</a:t>
            </a:r>
          </a:p>
        </p:txBody>
      </p:sp>
    </p:spTree>
    <p:extLst>
      <p:ext uri="{BB962C8B-B14F-4D97-AF65-F5344CB8AC3E}">
        <p14:creationId xmlns:p14="http://schemas.microsoft.com/office/powerpoint/2010/main" val="8410407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brand-dot-3">
            <a:extLst xmlns:a="http://schemas.openxmlformats.org/drawingml/2006/main">
              <a:ext uri="{FF2B5EF4-FFF2-40B4-BE49-F238E27FC236}">
                <a16:creationId xmlns:a16="http://schemas.microsoft.com/office/drawing/2014/main" id="{224C8712-3708-44CC-9229-F768C132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c-3">
            <a:extLst xmlns:a="http://schemas.openxmlformats.org/drawingml/2006/main">
              <a:ext uri="{FF2B5EF4-FFF2-40B4-BE49-F238E27FC236}">
                <a16:creationId xmlns:a16="http://schemas.microsoft.com/office/drawing/2014/main" id="{D8B2415D-2208-4634-81E3-832EA8F1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428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" name="deck-label-3">
            <a:extLst xmlns:a="http://schemas.openxmlformats.org/drawingml/2006/main">
              <a:ext uri="{FF2B5EF4-FFF2-40B4-BE49-F238E27FC236}">
                <a16:creationId xmlns:a16="http://schemas.microsoft.com/office/drawing/2014/main" id="{B9D39057-7607-4AB7-A1EC-E76E9DDB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76250"/>
            <a:ext cx="428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386B6"/>
                </a:solidFill>
                <a:latin typeface="Arial"/>
                <a:ea typeface="Arial"/>
                <a:cs typeface="Arial"/>
              </a:rPr>
              <a:t>THE PRODUCT</a:t>
            </a:r>
          </a:p>
        </p:txBody>
      </p:sp>
      <p:sp>
        <p:nvSpPr>
          <p:cNvPr id="4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AEFD23C1-712D-42FD-8C7E-4A8DBE7D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defPPr>
            <a:lvl1pPr algn="r"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lvl1pPr>
            <a:lvl2pPr algn="r"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lvl2pPr>
            <a:lvl3pPr algn="r"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lvl3pPr>
            <a:lvl4pPr algn="r"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lvl4pPr>
            <a:lvl5pPr algn="r"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lvl5pPr>
            <a:lvl6pPr algn="r"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lvl6pPr>
            <a:lvl7pPr algn="r"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lvl7pPr>
            <a:lvl8pPr algn="r"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lvl8pPr>
            <a:lvl9pPr algn="r"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A1AAB8"/>
                </a:solidFill>
                <a:latin typeface="Arial"/>
                <a:ea typeface="Arial"/>
                <a:cs typeface="Arial"/>
              </a:rPr>
              <a:t>03 / 06</a:t>
            </a:r>
          </a:p>
        </p:txBody>
      </p:sp>
      <p:sp>
        <p:nvSpPr>
          <p:cNvPr id="5" name="product-title">
            <a:extLst xmlns:a="http://schemas.openxmlformats.org/drawingml/2006/main">
              <a:ext uri="{FF2B5EF4-FFF2-40B4-BE49-F238E27FC236}">
                <a16:creationId xmlns:a16="http://schemas.microsoft.com/office/drawing/2014/main" id="{57C32D94-BD1D-4063-B28A-DDA38786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7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defPPr>
            <a:lvl1pPr algn="l">
              <a:defRPr sz="307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1pPr>
            <a:lvl2pPr algn="l">
              <a:defRPr sz="307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2pPr>
            <a:lvl3pPr algn="l">
              <a:defRPr sz="307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3pPr>
            <a:lvl4pPr algn="l">
              <a:defRPr sz="307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4pPr>
            <a:lvl5pPr algn="l">
              <a:defRPr sz="307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5pPr>
            <a:lvl6pPr algn="l">
              <a:defRPr sz="307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6pPr>
            <a:lvl7pPr algn="l">
              <a:defRPr sz="307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7pPr>
            <a:lvl8pPr algn="l">
              <a:defRPr sz="307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8pPr>
            <a:lvl9pPr algn="l">
              <a:defRPr sz="307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07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72541"/>
                </a:solidFill>
                <a:latin typeface="Arial"/>
                <a:ea typeface="Arial"/>
                <a:cs typeface="Arial"/>
              </a:rPr>
              <a:t>One preflight for the final handoff</a:t>
            </a:r>
          </a:p>
        </p:txBody>
      </p:sp>
      <p:sp>
        <p:nvSpPr>
          <p:cNvPr id="6" name="product-intro">
            <a:extLst xmlns:a="http://schemas.openxmlformats.org/drawingml/2006/main">
              <a:ext uri="{FF2B5EF4-FFF2-40B4-BE49-F238E27FC236}">
                <a16:creationId xmlns:a16="http://schemas.microsoft.com/office/drawing/2014/main" id="{0D3ED735-B5C0-4D85-B98E-4C0BCA95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3819A"/>
                </a:solidFill>
                <a:latin typeface="Arial"/>
                <a:ea typeface="Arial"/>
                <a:cs typeface="Arial"/>
              </a:rPr>
              <a:t>CapstoneCue connects technical checks with a practiced live demo.</a:t>
            </a:r>
          </a:p>
        </p:txBody>
      </p:sp>
      <p:sp>
        <p:nvSpPr>
          <p:cNvPr id="7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AA95C907-6BB9-43DC-AD17-8919A045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number-text-0">
            <a:extLst xmlns:a="http://schemas.openxmlformats.org/drawingml/2006/main">
              <a:ext uri="{FF2B5EF4-FFF2-40B4-BE49-F238E27FC236}">
                <a16:creationId xmlns:a16="http://schemas.microsoft.com/office/drawing/2014/main" id="{066193BA-719F-4451-96FF-6E7DF93B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86075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85C34548-693C-498D-A3C1-CE8DD8CB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416EE7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416EE7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416EE7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416EE7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416EE7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416EE7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416EE7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416EE7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416EE7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416E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416EE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16EE7"/>
                </a:solidFill>
                <a:latin typeface="Arial"/>
                <a:ea typeface="Arial"/>
                <a:cs typeface="Arial"/>
              </a:rPr>
              <a:t>COLLECT</a:t>
            </a:r>
          </a:p>
        </p:txBody>
      </p:sp>
      <p:sp>
        <p:nvSpPr>
          <p:cNvPr id="10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35D65DAD-7779-4DF5-A72A-D630B159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41"/>
                </a:solidFill>
                <a:latin typeface="Arial"/>
                <a:ea typeface="Arial"/>
                <a:cs typeface="Arial"/>
              </a:rPr>
              <a:t>Keep the proof together</a:t>
            </a:r>
          </a:p>
        </p:txBody>
      </p:sp>
      <p:sp>
        <p:nvSpPr>
          <p:cNvPr id="11" name="step-body-0">
            <a:extLst xmlns:a="http://schemas.openxmlformats.org/drawingml/2006/main">
              <a:ext uri="{FF2B5EF4-FFF2-40B4-BE49-F238E27FC236}">
                <a16:creationId xmlns:a16="http://schemas.microsoft.com/office/drawing/2014/main" id="{8AF9A79B-4019-4163-A284-00A40BDA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3095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819A"/>
                </a:solidFill>
                <a:latin typeface="Arial"/>
                <a:ea typeface="Arial"/>
                <a:cs typeface="Arial"/>
              </a:rPr>
              <a:t>Track each review requirement, status, and reviewer-openable evidence link.</a:t>
            </a:r>
          </a:p>
        </p:txBody>
      </p:sp>
      <p:sp>
        <p:nvSpPr>
          <p:cNvPr id="12" name="step-flow-line-0">
            <a:extLst xmlns:a="http://schemas.openxmlformats.org/drawingml/2006/main">
              <a:ext uri="{FF2B5EF4-FFF2-40B4-BE49-F238E27FC236}">
                <a16:creationId xmlns:a16="http://schemas.microsoft.com/office/drawing/2014/main" id="{36FFECD3-3574-43BB-9483-E7DA9CCD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527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-flow-point-0">
            <a:extLst xmlns:a="http://schemas.openxmlformats.org/drawingml/2006/main">
              <a:ext uri="{FF2B5EF4-FFF2-40B4-BE49-F238E27FC236}">
                <a16:creationId xmlns:a16="http://schemas.microsoft.com/office/drawing/2014/main" id="{4D2A854F-0EB6-43DC-802E-FD449BBD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95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4E57E4B3-36FD-4C35-ADB0-0EA7876C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62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number-text-1">
            <a:extLst xmlns:a="http://schemas.openxmlformats.org/drawingml/2006/main">
              <a:ext uri="{FF2B5EF4-FFF2-40B4-BE49-F238E27FC236}">
                <a16:creationId xmlns:a16="http://schemas.microsoft.com/office/drawing/2014/main" id="{2B5C33D2-175C-4507-8B46-E0FB737E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86075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0F98A884-DBE6-46AF-A0BA-92DDA213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909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20A27B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20A27B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20A27B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20A27B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20A27B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20A27B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20A27B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20A27B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20A27B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20A2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20A27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0A27B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17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8F0C75C2-3E73-4177-9FCD-D7285275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6766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41"/>
                </a:solidFill>
                <a:latin typeface="Arial"/>
                <a:ea typeface="Arial"/>
                <a:cs typeface="Arial"/>
              </a:rPr>
              <a:t>Check the public surface</a:t>
            </a:r>
          </a:p>
        </p:txBody>
      </p:sp>
      <p:sp>
        <p:nvSpPr>
          <p:cNvPr id="18" name="step-body-1">
            <a:extLst xmlns:a="http://schemas.openxmlformats.org/drawingml/2006/main">
              <a:ext uri="{FF2B5EF4-FFF2-40B4-BE49-F238E27FC236}">
                <a16:creationId xmlns:a16="http://schemas.microsoft.com/office/drawing/2014/main" id="{46412BCE-5CED-44AB-A9A5-05F4A66D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86250"/>
            <a:ext cx="3095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819A"/>
                </a:solidFill>
                <a:latin typeface="Arial"/>
                <a:ea typeface="Arial"/>
                <a:cs typeface="Arial"/>
              </a:rPr>
              <a:t>Confirm the GitHub repository is public and the Vercel deployment responds.</a:t>
            </a:r>
          </a:p>
        </p:txBody>
      </p:sp>
      <p:sp>
        <p:nvSpPr>
          <p:cNvPr id="19" name="step-flow-line-1">
            <a:extLst xmlns:a="http://schemas.openxmlformats.org/drawingml/2006/main">
              <a:ext uri="{FF2B5EF4-FFF2-40B4-BE49-F238E27FC236}">
                <a16:creationId xmlns:a16="http://schemas.microsoft.com/office/drawing/2014/main" id="{BFE89E12-F453-490A-B74C-50714EB1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527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ep-flow-point-1">
            <a:extLst xmlns:a="http://schemas.openxmlformats.org/drawingml/2006/main">
              <a:ext uri="{FF2B5EF4-FFF2-40B4-BE49-F238E27FC236}">
                <a16:creationId xmlns:a16="http://schemas.microsoft.com/office/drawing/2014/main" id="{CF7A80CD-CD2A-46BF-8203-1B7A9F38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895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6FDCA3BF-BDC4-4892-AF8E-52C10D4E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62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9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tep-number-text-2">
            <a:extLst xmlns:a="http://schemas.openxmlformats.org/drawingml/2006/main">
              <a:ext uri="{FF2B5EF4-FFF2-40B4-BE49-F238E27FC236}">
                <a16:creationId xmlns:a16="http://schemas.microsoft.com/office/drawing/2014/main" id="{71524880-872B-4727-A63E-0284E704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86075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C0127C78-E476-4188-A4ED-1E71891B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909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D79A3D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D79A3D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D79A3D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D79A3D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D79A3D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D79A3D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D79A3D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D79A3D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D79A3D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D79A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D79A3D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79A3D"/>
                </a:solidFill>
                <a:latin typeface="Arial"/>
                <a:ea typeface="Arial"/>
                <a:cs typeface="Arial"/>
              </a:rPr>
              <a:t>REHEARSE</a:t>
            </a:r>
          </a:p>
        </p:txBody>
      </p:sp>
      <p:sp>
        <p:nvSpPr>
          <p:cNvPr id="24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C5070B94-F6A2-4A4B-99DD-84CBD22B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766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41"/>
                </a:solidFill>
                <a:latin typeface="Arial"/>
                <a:ea typeface="Arial"/>
                <a:cs typeface="Arial"/>
              </a:rPr>
              <a:t>Practice the three minutes</a:t>
            </a:r>
          </a:p>
        </p:txBody>
      </p:sp>
      <p:sp>
        <p:nvSpPr>
          <p:cNvPr id="25" name="step-body-2">
            <a:extLst xmlns:a="http://schemas.openxmlformats.org/drawingml/2006/main">
              <a:ext uri="{FF2B5EF4-FFF2-40B4-BE49-F238E27FC236}">
                <a16:creationId xmlns:a16="http://schemas.microsoft.com/office/drawing/2014/main" id="{6EFD04AD-C0FF-4DEC-A123-CE44BB42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86250"/>
            <a:ext cx="3095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819A"/>
                </a:solidFill>
                <a:latin typeface="Arial"/>
                <a:ea typeface="Arial"/>
                <a:cs typeface="Arial"/>
              </a:rPr>
              <a:t>Follow timed cues for the problem, workflow, persistence, and user evidence.</a:t>
            </a:r>
          </a:p>
        </p:txBody>
      </p:sp>
      <p:sp>
        <p:nvSpPr>
          <p:cNvPr id="26" name="product-limit-band">
            <a:extLst xmlns:a="http://schemas.openxmlformats.org/drawingml/2006/main">
              <a:ext uri="{FF2B5EF4-FFF2-40B4-BE49-F238E27FC236}">
                <a16:creationId xmlns:a16="http://schemas.microsoft.com/office/drawing/2014/main" id="{FB31657B-B46B-4AD7-8658-589748DB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09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roduct-limit-text">
            <a:extLst xmlns:a="http://schemas.openxmlformats.org/drawingml/2006/main">
              <a:ext uri="{FF2B5EF4-FFF2-40B4-BE49-F238E27FC236}">
                <a16:creationId xmlns:a16="http://schemas.microsoft.com/office/drawing/2014/main" id="{301D6204-C34C-464C-B046-8EDDA666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57825"/>
            <a:ext cx="976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5F75AE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5F75AE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5F75AE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5F75AE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5F75AE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5F75AE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5F75AE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5F75AE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5F75AE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5F75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F75A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F75AE"/>
                </a:solidFill>
                <a:latin typeface="Arial"/>
                <a:ea typeface="Arial"/>
                <a:cs typeface="Arial"/>
              </a:rPr>
              <a:t>A successful link check confirms reachability at one moment. It is not a security review or proof of product quality.</a:t>
            </a:r>
          </a:p>
        </p:txBody>
      </p:sp>
      <p:sp>
        <p:nvSpPr>
          <p:cNvPr id="28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317F1738-9F5E-42D4-8D2E-3C800F42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439D7675-6253-4110-B137-B6D9AF5A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defPPr>
            <a:lvl1pPr algn="l"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lvl1pPr>
            <a:lvl2pPr algn="l"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lvl2pPr>
            <a:lvl3pPr algn="l"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lvl3pPr>
            <a:lvl4pPr algn="l"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lvl4pPr>
            <a:lvl5pPr algn="l"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lvl5pPr>
            <a:lvl6pPr algn="l"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lvl6pPr>
            <a:lvl7pPr algn="l"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lvl7pPr>
            <a:lvl8pPr algn="l"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lvl8pPr>
            <a:lvl9pPr algn="l"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96A1B1"/>
                </a:solidFill>
                <a:latin typeface="Arial"/>
                <a:ea typeface="Arial"/>
                <a:cs typeface="Arial"/>
              </a:rPr>
              <a:t>CAPSTONECUE  ·  DEMO-DAY PREFLIGHT</a:t>
            </a:r>
          </a:p>
        </p:txBody>
      </p:sp>
    </p:spTree>
    <p:extLst>
      <p:ext uri="{BB962C8B-B14F-4D97-AF65-F5344CB8AC3E}">
        <p14:creationId xmlns:p14="http://schemas.microsoft.com/office/powerpoint/2010/main" val="19719655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brand-dot-4">
            <a:extLst xmlns:a="http://schemas.openxmlformats.org/drawingml/2006/main">
              <a:ext uri="{FF2B5EF4-FFF2-40B4-BE49-F238E27FC236}">
                <a16:creationId xmlns:a16="http://schemas.microsoft.com/office/drawing/2014/main" id="{9F2D3E01-4459-4042-9233-352AED84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c-4">
            <a:extLst xmlns:a="http://schemas.openxmlformats.org/drawingml/2006/main">
              <a:ext uri="{FF2B5EF4-FFF2-40B4-BE49-F238E27FC236}">
                <a16:creationId xmlns:a16="http://schemas.microsoft.com/office/drawing/2014/main" id="{85591088-A89F-473D-BF9D-E3EAD278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428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" name="deck-label-4">
            <a:extLst xmlns:a="http://schemas.openxmlformats.org/drawingml/2006/main">
              <a:ext uri="{FF2B5EF4-FFF2-40B4-BE49-F238E27FC236}">
                <a16:creationId xmlns:a16="http://schemas.microsoft.com/office/drawing/2014/main" id="{0A23324C-FCD7-48A7-86BA-3675C74E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76250"/>
            <a:ext cx="428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386B6"/>
                </a:solidFill>
                <a:latin typeface="Arial"/>
                <a:ea typeface="Arial"/>
                <a:cs typeface="Arial"/>
              </a:rPr>
              <a:t>THE LANDSCAPE</a:t>
            </a:r>
          </a:p>
        </p:txBody>
      </p:sp>
      <p:sp>
        <p:nvSpPr>
          <p:cNvPr id="4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3A83E779-E16D-4DC5-9AA4-7753F943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defPPr>
            <a:lvl1pPr algn="r"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lvl1pPr>
            <a:lvl2pPr algn="r"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lvl2pPr>
            <a:lvl3pPr algn="r"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lvl3pPr>
            <a:lvl4pPr algn="r"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lvl4pPr>
            <a:lvl5pPr algn="r"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lvl5pPr>
            <a:lvl6pPr algn="r"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lvl6pPr>
            <a:lvl7pPr algn="r"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lvl7pPr>
            <a:lvl8pPr algn="r"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lvl8pPr>
            <a:lvl9pPr algn="r"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A1AAB8"/>
                </a:solidFill>
                <a:latin typeface="Arial"/>
                <a:ea typeface="Arial"/>
                <a:cs typeface="Arial"/>
              </a:rPr>
              <a:t>04 / 06</a:t>
            </a:r>
          </a:p>
        </p:txBody>
      </p:sp>
      <p:sp>
        <p:nvSpPr>
          <p:cNvPr id="5" name="landscape-title">
            <a:extLst xmlns:a="http://schemas.openxmlformats.org/drawingml/2006/main">
              <a:ext uri="{FF2B5EF4-FFF2-40B4-BE49-F238E27FC236}">
                <a16:creationId xmlns:a16="http://schemas.microsoft.com/office/drawing/2014/main" id="{F6EEEAD2-54AA-4E82-A684-AD07E39A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541"/>
                </a:solidFill>
                <a:latin typeface="Arial"/>
                <a:ea typeface="Arial"/>
                <a:cs typeface="Arial"/>
              </a:rPr>
              <a:t>A narrow job beside existing tools</a:t>
            </a:r>
          </a:p>
        </p:txBody>
      </p:sp>
      <p:sp>
        <p:nvSpPr>
          <p:cNvPr id="6" name="landscape-intro">
            <a:extLst xmlns:a="http://schemas.openxmlformats.org/drawingml/2006/main">
              <a:ext uri="{FF2B5EF4-FFF2-40B4-BE49-F238E27FC236}">
                <a16:creationId xmlns:a16="http://schemas.microsoft.com/office/drawing/2014/main" id="{A20E26DB-59E0-412F-A9C5-0A968129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819A"/>
                </a:solidFill>
                <a:latin typeface="Arial"/>
                <a:ea typeface="Arial"/>
                <a:cs typeface="Arial"/>
              </a:rPr>
              <a:t>CapstoneCue focuses on demo-day preflight and rehearsal, not general task planning.</a:t>
            </a:r>
          </a:p>
        </p:txBody>
      </p:sp>
      <p:sp>
        <p:nvSpPr>
          <p:cNvPr id="7" name="landscape-col-a">
            <a:extLst xmlns:a="http://schemas.openxmlformats.org/drawingml/2006/main">
              <a:ext uri="{FF2B5EF4-FFF2-40B4-BE49-F238E27FC236}">
                <a16:creationId xmlns:a16="http://schemas.microsoft.com/office/drawing/2014/main" id="{B188C750-B368-4C51-9248-5A1B4D63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8492AE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8492AE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8492AE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8492AE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8492AE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8492AE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8492AE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8492AE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8492AE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8492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8492A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492AE"/>
                </a:solidFill>
                <a:latin typeface="Arial"/>
                <a:ea typeface="Arial"/>
                <a:cs typeface="Arial"/>
              </a:rPr>
              <a:t>EXISTING CATEGORY</a:t>
            </a:r>
          </a:p>
        </p:txBody>
      </p:sp>
      <p:sp>
        <p:nvSpPr>
          <p:cNvPr id="8" name="landscape-col-b">
            <a:extLst xmlns:a="http://schemas.openxmlformats.org/drawingml/2006/main">
              <a:ext uri="{FF2B5EF4-FFF2-40B4-BE49-F238E27FC236}">
                <a16:creationId xmlns:a16="http://schemas.microsoft.com/office/drawing/2014/main" id="{99D18568-DFEC-41CA-A15F-A2C8FA85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09825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8492AE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8492AE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8492AE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8492AE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8492AE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8492AE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8492AE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8492AE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8492AE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8492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8492A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492AE"/>
                </a:solidFill>
                <a:latin typeface="Arial"/>
                <a:ea typeface="Arial"/>
                <a:cs typeface="Arial"/>
              </a:rPr>
              <a:t>WHAT IT ALREADY DOES</a:t>
            </a:r>
          </a:p>
        </p:txBody>
      </p:sp>
      <p:sp>
        <p:nvSpPr>
          <p:cNvPr id="9" name="landscape-name-0">
            <a:extLst xmlns:a="http://schemas.openxmlformats.org/drawingml/2006/main">
              <a:ext uri="{FF2B5EF4-FFF2-40B4-BE49-F238E27FC236}">
                <a16:creationId xmlns:a16="http://schemas.microsoft.com/office/drawing/2014/main" id="{A9C2632F-EE3E-4366-BE6E-2E052FC0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541"/>
                </a:solidFill>
                <a:latin typeface="Arial"/>
                <a:ea typeface="Arial"/>
                <a:cs typeface="Arial"/>
              </a:rPr>
              <a:t>RubricTrail</a:t>
            </a:r>
          </a:p>
        </p:txBody>
      </p:sp>
      <p:sp>
        <p:nvSpPr>
          <p:cNvPr id="10" name="landscape-detail-0">
            <a:extLst xmlns:a="http://schemas.openxmlformats.org/drawingml/2006/main">
              <a:ext uri="{FF2B5EF4-FFF2-40B4-BE49-F238E27FC236}">
                <a16:creationId xmlns:a16="http://schemas.microsoft.com/office/drawing/2014/main" id="{F20F0405-1783-4589-B16E-63F2EC87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33675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19A"/>
                </a:solidFill>
                <a:latin typeface="Arial"/>
                <a:ea typeface="Arial"/>
                <a:cs typeface="Arial"/>
              </a:rPr>
              <a:t>Assignment brief and rubric planning with linked evidence</a:t>
            </a:r>
          </a:p>
        </p:txBody>
      </p:sp>
      <p:sp>
        <p:nvSpPr>
          <p:cNvPr id="11" name="landscape-rule-0">
            <a:extLst xmlns:a="http://schemas.openxmlformats.org/drawingml/2006/main">
              <a:ext uri="{FF2B5EF4-FFF2-40B4-BE49-F238E27FC236}">
                <a16:creationId xmlns:a16="http://schemas.microsoft.com/office/drawing/2014/main" id="{185DABD5-C0E3-4A33-9962-49A087AE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14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andscape-name-1">
            <a:extLst xmlns:a="http://schemas.openxmlformats.org/drawingml/2006/main">
              <a:ext uri="{FF2B5EF4-FFF2-40B4-BE49-F238E27FC236}">
                <a16:creationId xmlns:a16="http://schemas.microsoft.com/office/drawing/2014/main" id="{51392D9C-ED9F-460B-8644-3BCB6AC3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541"/>
                </a:solidFill>
                <a:latin typeface="Arial"/>
                <a:ea typeface="Arial"/>
                <a:cs typeface="Arial"/>
              </a:rPr>
              <a:t>GitHub Projects</a:t>
            </a:r>
          </a:p>
        </p:txBody>
      </p:sp>
      <p:sp>
        <p:nvSpPr>
          <p:cNvPr id="13" name="landscape-detail-1">
            <a:extLst xmlns:a="http://schemas.openxmlformats.org/drawingml/2006/main">
              <a:ext uri="{FF2B5EF4-FFF2-40B4-BE49-F238E27FC236}">
                <a16:creationId xmlns:a16="http://schemas.microsoft.com/office/drawing/2014/main" id="{50EA2B61-D66B-4B46-86C1-38F9BCD7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575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19A"/>
                </a:solidFill>
                <a:latin typeface="Arial"/>
                <a:ea typeface="Arial"/>
                <a:cs typeface="Arial"/>
              </a:rPr>
              <a:t>Code-linked issues, boards, roadmaps, and charts</a:t>
            </a:r>
          </a:p>
        </p:txBody>
      </p:sp>
      <p:sp>
        <p:nvSpPr>
          <p:cNvPr id="14" name="landscape-rule-1">
            <a:extLst xmlns:a="http://schemas.openxmlformats.org/drawingml/2006/main">
              <a:ext uri="{FF2B5EF4-FFF2-40B4-BE49-F238E27FC236}">
                <a16:creationId xmlns:a16="http://schemas.microsoft.com/office/drawing/2014/main" id="{F2C5F716-B456-4E13-AD10-A331E443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14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landscape-name-2">
            <a:extLst xmlns:a="http://schemas.openxmlformats.org/drawingml/2006/main">
              <a:ext uri="{FF2B5EF4-FFF2-40B4-BE49-F238E27FC236}">
                <a16:creationId xmlns:a16="http://schemas.microsoft.com/office/drawing/2014/main" id="{5E2D771B-18F7-454E-BEC7-7B6FB23B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541"/>
                </a:solidFill>
                <a:latin typeface="Arial"/>
                <a:ea typeface="Arial"/>
                <a:cs typeface="Arial"/>
              </a:rPr>
              <a:t>Canvas rubrics</a:t>
            </a:r>
          </a:p>
        </p:txBody>
      </p:sp>
      <p:sp>
        <p:nvSpPr>
          <p:cNvPr id="16" name="landscape-detail-2">
            <a:extLst xmlns:a="http://schemas.openxmlformats.org/drawingml/2006/main">
              <a:ext uri="{FF2B5EF4-FFF2-40B4-BE49-F238E27FC236}">
                <a16:creationId xmlns:a16="http://schemas.microsoft.com/office/drawing/2014/main" id="{3C3927D9-855F-421D-8354-5A4290C9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781425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19A"/>
                </a:solidFill>
                <a:latin typeface="Arial"/>
                <a:ea typeface="Arial"/>
                <a:cs typeface="Arial"/>
              </a:rPr>
              <a:t>Instructor-facing assignment assessment and scoring</a:t>
            </a:r>
          </a:p>
        </p:txBody>
      </p:sp>
      <p:sp>
        <p:nvSpPr>
          <p:cNvPr id="17" name="landscape-rule-2">
            <a:extLst xmlns:a="http://schemas.openxmlformats.org/drawingml/2006/main">
              <a:ext uri="{FF2B5EF4-FFF2-40B4-BE49-F238E27FC236}">
                <a16:creationId xmlns:a16="http://schemas.microsoft.com/office/drawing/2014/main" id="{D3CE3D19-BF92-4764-BFAA-4970A805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10144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andscape-name-3">
            <a:extLst xmlns:a="http://schemas.openxmlformats.org/drawingml/2006/main">
              <a:ext uri="{FF2B5EF4-FFF2-40B4-BE49-F238E27FC236}">
                <a16:creationId xmlns:a16="http://schemas.microsoft.com/office/drawing/2014/main" id="{A81BDADC-F750-4B27-9B25-0916A3C3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2541"/>
                </a:solidFill>
                <a:latin typeface="Arial"/>
                <a:ea typeface="Arial"/>
                <a:cs typeface="Arial"/>
              </a:rPr>
              <a:t>LaunchProof</a:t>
            </a:r>
          </a:p>
        </p:txBody>
      </p:sp>
      <p:sp>
        <p:nvSpPr>
          <p:cNvPr id="19" name="landscape-detail-3">
            <a:extLst xmlns:a="http://schemas.openxmlformats.org/drawingml/2006/main">
              <a:ext uri="{FF2B5EF4-FFF2-40B4-BE49-F238E27FC236}">
                <a16:creationId xmlns:a16="http://schemas.microsoft.com/office/drawing/2014/main" id="{D7C7F60E-9472-4AEF-AA32-26AECE01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3053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3819A"/>
                </a:solidFill>
                <a:latin typeface="Arial"/>
                <a:ea typeface="Arial"/>
                <a:cs typeface="Arial"/>
              </a:rPr>
              <a:t>Existing launch-readiness and security checks for AI-built apps</a:t>
            </a:r>
          </a:p>
        </p:txBody>
      </p:sp>
      <p:sp>
        <p:nvSpPr>
          <p:cNvPr id="20" name="landscape-thesis-band">
            <a:extLst xmlns:a="http://schemas.openxmlformats.org/drawingml/2006/main">
              <a:ext uri="{FF2B5EF4-FFF2-40B4-BE49-F238E27FC236}">
                <a16:creationId xmlns:a16="http://schemas.microsoft.com/office/drawing/2014/main" id="{423A59CF-B9E0-4A21-A04B-ED616B66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1441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D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landscape-thesis-label">
            <a:extLst xmlns:a="http://schemas.openxmlformats.org/drawingml/2006/main">
              <a:ext uri="{FF2B5EF4-FFF2-40B4-BE49-F238E27FC236}">
                <a16:creationId xmlns:a16="http://schemas.microsoft.com/office/drawing/2014/main" id="{9249AFD8-057E-486A-9E56-EDC6416C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43500"/>
            <a:ext cx="1666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ADC0EE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ADC0EE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ADC0EE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ADC0EE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ADC0EE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ADC0EE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ADC0EE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ADC0EE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ADC0EE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ADC0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ADC0E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DC0EE"/>
                </a:solidFill>
                <a:latin typeface="Arial"/>
                <a:ea typeface="Arial"/>
                <a:cs typeface="Arial"/>
              </a:rPr>
              <a:t>CAPSTONECUE’S BET</a:t>
            </a:r>
          </a:p>
        </p:txBody>
      </p:sp>
      <p:sp>
        <p:nvSpPr>
          <p:cNvPr id="22" name="landscape-thesis">
            <a:extLst xmlns:a="http://schemas.openxmlformats.org/drawingml/2006/main">
              <a:ext uri="{FF2B5EF4-FFF2-40B4-BE49-F238E27FC236}">
                <a16:creationId xmlns:a16="http://schemas.microsoft.com/office/drawing/2014/main" id="{A01934DF-E458-4533-A577-F4C60AAE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2445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Students may need a last-mile place to verify the submission surface and rehearse a panel-ready demo.</a:t>
            </a:r>
          </a:p>
        </p:txBody>
      </p:sp>
      <p:sp>
        <p:nvSpPr>
          <p:cNvPr id="23" name="landscape-caveat">
            <a:extLst xmlns:a="http://schemas.openxmlformats.org/drawingml/2006/main">
              <a:ext uri="{FF2B5EF4-FFF2-40B4-BE49-F238E27FC236}">
                <a16:creationId xmlns:a16="http://schemas.microsoft.com/office/drawing/2014/main" id="{72CD45C7-A111-43E3-945E-039F8B66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43575"/>
            <a:ext cx="10001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0">
                <a:solidFill>
                  <a:srgbClr val="8995A7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>
                <a:solidFill>
                  <a:srgbClr val="8995A7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>
                <a:solidFill>
                  <a:srgbClr val="8995A7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>
                <a:solidFill>
                  <a:srgbClr val="8995A7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>
                <a:solidFill>
                  <a:srgbClr val="8995A7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>
                <a:solidFill>
                  <a:srgbClr val="8995A7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>
                <a:solidFill>
                  <a:srgbClr val="8995A7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>
                <a:solidFill>
                  <a:srgbClr val="8995A7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>
                <a:solidFill>
                  <a:srgbClr val="8995A7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>
                <a:solidFill>
                  <a:srgbClr val="8995A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8995A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995A7"/>
                </a:solidFill>
                <a:latin typeface="Arial"/>
                <a:ea typeface="Arial"/>
                <a:cs typeface="Arial"/>
              </a:rPr>
              <a:t>This positioning is unvalidated; existing rubric and project tools may be enough.</a:t>
            </a:r>
          </a:p>
        </p:txBody>
      </p:sp>
      <p:sp>
        <p:nvSpPr>
          <p:cNvPr id="24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EA8115CC-9EE9-412A-B856-43241A4B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CDB042C8-763A-48DD-A9DB-46A2DFCD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defPPr>
            <a:lvl1pPr algn="l"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lvl1pPr>
            <a:lvl2pPr algn="l"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lvl2pPr>
            <a:lvl3pPr algn="l"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lvl3pPr>
            <a:lvl4pPr algn="l"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lvl4pPr>
            <a:lvl5pPr algn="l"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lvl5pPr>
            <a:lvl6pPr algn="l"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lvl6pPr>
            <a:lvl7pPr algn="l"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lvl7pPr>
            <a:lvl8pPr algn="l"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lvl8pPr>
            <a:lvl9pPr algn="l"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96A1B1"/>
                </a:solidFill>
                <a:latin typeface="Arial"/>
                <a:ea typeface="Arial"/>
                <a:cs typeface="Arial"/>
              </a:rPr>
              <a:t>CAPSTONECUE  ·  DEMO-DAY PREFLIGHT</a:t>
            </a:r>
          </a:p>
        </p:txBody>
      </p:sp>
    </p:spTree>
    <p:extLst>
      <p:ext uri="{BB962C8B-B14F-4D97-AF65-F5344CB8AC3E}">
        <p14:creationId xmlns:p14="http://schemas.microsoft.com/office/powerpoint/2010/main" val="16648940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brand-dot-5">
            <a:extLst xmlns:a="http://schemas.openxmlformats.org/drawingml/2006/main">
              <a:ext uri="{FF2B5EF4-FFF2-40B4-BE49-F238E27FC236}">
                <a16:creationId xmlns:a16="http://schemas.microsoft.com/office/drawing/2014/main" id="{44D5937C-6265-4D66-87A0-4D31AD5C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c-5">
            <a:extLst xmlns:a="http://schemas.openxmlformats.org/drawingml/2006/main">
              <a:ext uri="{FF2B5EF4-FFF2-40B4-BE49-F238E27FC236}">
                <a16:creationId xmlns:a16="http://schemas.microsoft.com/office/drawing/2014/main" id="{07D13BBD-BCE3-430D-B53A-48E36F12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428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" name="deck-label-5">
            <a:extLst xmlns:a="http://schemas.openxmlformats.org/drawingml/2006/main">
              <a:ext uri="{FF2B5EF4-FFF2-40B4-BE49-F238E27FC236}">
                <a16:creationId xmlns:a16="http://schemas.microsoft.com/office/drawing/2014/main" id="{9F347CA4-F446-405C-B046-E2FBFE1E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76250"/>
            <a:ext cx="428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7386B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386B6"/>
                </a:solidFill>
                <a:latin typeface="Arial"/>
                <a:ea typeface="Arial"/>
                <a:cs typeface="Arial"/>
              </a:rPr>
              <a:t>BUSINESS AND LAUNCH</a:t>
            </a:r>
          </a:p>
        </p:txBody>
      </p:sp>
      <p:sp>
        <p:nvSpPr>
          <p:cNvPr id="4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17FC2D7C-4A54-4641-8AF9-99489B9E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defPPr>
            <a:lvl1pPr algn="r"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lvl1pPr>
            <a:lvl2pPr algn="r"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lvl2pPr>
            <a:lvl3pPr algn="r"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lvl3pPr>
            <a:lvl4pPr algn="r"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lvl4pPr>
            <a:lvl5pPr algn="r"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lvl5pPr>
            <a:lvl6pPr algn="r"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lvl6pPr>
            <a:lvl7pPr algn="r"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lvl7pPr>
            <a:lvl8pPr algn="r"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lvl8pPr>
            <a:lvl9pPr algn="r"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675" b="1">
                <a:solidFill>
                  <a:srgbClr val="A1AAB8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A1AAB8"/>
                </a:solidFill>
                <a:latin typeface="Arial"/>
                <a:ea typeface="Arial"/>
                <a:cs typeface="Arial"/>
              </a:rPr>
              <a:t>05 / 06</a:t>
            </a:r>
          </a:p>
        </p:txBody>
      </p:sp>
      <p:sp>
        <p:nvSpPr>
          <p:cNvPr id="5" name="business-title">
            <a:extLst xmlns:a="http://schemas.openxmlformats.org/drawingml/2006/main">
              <a:ext uri="{FF2B5EF4-FFF2-40B4-BE49-F238E27FC236}">
                <a16:creationId xmlns:a16="http://schemas.microsoft.com/office/drawing/2014/main" id="{8470C456-E81A-42E8-BA73-96B73430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541"/>
                </a:solidFill>
                <a:latin typeface="Arial"/>
                <a:ea typeface="Arial"/>
                <a:cs typeface="Arial"/>
              </a:rPr>
              <a:t>Test the value before setting a price</a:t>
            </a:r>
          </a:p>
        </p:txBody>
      </p:sp>
      <p:sp>
        <p:nvSpPr>
          <p:cNvPr id="6" name="business-intro">
            <a:extLst xmlns:a="http://schemas.openxmlformats.org/drawingml/2006/main">
              <a:ext uri="{FF2B5EF4-FFF2-40B4-BE49-F238E27FC236}">
                <a16:creationId xmlns:a16="http://schemas.microsoft.com/office/drawing/2014/main" id="{F9EE78C8-0927-4C41-9298-86F36445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240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819A"/>
                </a:solidFill>
                <a:latin typeface="Arial"/>
                <a:ea typeface="Arial"/>
                <a:cs typeface="Arial"/>
              </a:rPr>
              <a:t>Start with one student capstone and learn whether the last-mile workflow helps.</a:t>
            </a:r>
          </a:p>
        </p:txBody>
      </p:sp>
      <p:sp>
        <p:nvSpPr>
          <p:cNvPr id="7" name="entry-rule">
            <a:extLst xmlns:a="http://schemas.openxmlformats.org/drawingml/2006/main">
              <a:ext uri="{FF2B5EF4-FFF2-40B4-BE49-F238E27FC236}">
                <a16:creationId xmlns:a16="http://schemas.microsoft.com/office/drawing/2014/main" id="{9BFDD3EB-5CCD-4D5E-AF01-9F046360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38100" cy="1914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ntry-label">
            <a:extLst xmlns:a="http://schemas.openxmlformats.org/drawingml/2006/main">
              <a:ext uri="{FF2B5EF4-FFF2-40B4-BE49-F238E27FC236}">
                <a16:creationId xmlns:a16="http://schemas.microsoft.com/office/drawing/2014/main" id="{E33B9A9A-30C7-4DBE-832C-0CD252A3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05075"/>
            <a:ext cx="3905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416EE7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416EE7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416EE7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416EE7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416EE7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416EE7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416EE7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416EE7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416EE7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416E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416EE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416EE7"/>
                </a:solidFill>
                <a:latin typeface="Arial"/>
                <a:ea typeface="Arial"/>
                <a:cs typeface="Arial"/>
              </a:rPr>
              <a:t>ENTRY HYPOTHESIS</a:t>
            </a:r>
          </a:p>
        </p:txBody>
      </p:sp>
      <p:sp>
        <p:nvSpPr>
          <p:cNvPr id="9" name="entry-title">
            <a:extLst xmlns:a="http://schemas.openxmlformats.org/drawingml/2006/main">
              <a:ext uri="{FF2B5EF4-FFF2-40B4-BE49-F238E27FC236}">
                <a16:creationId xmlns:a16="http://schemas.microsoft.com/office/drawing/2014/main" id="{D545D28C-E7D2-4776-8A6E-99C8631B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987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41"/>
                </a:solidFill>
                <a:latin typeface="Arial"/>
                <a:ea typeface="Arial"/>
                <a:cs typeface="Arial"/>
              </a:rPr>
              <a:t>Free individual workspace</a:t>
            </a:r>
          </a:p>
        </p:txBody>
      </p:sp>
      <p:sp>
        <p:nvSpPr>
          <p:cNvPr id="10" name="entry-detail">
            <a:extLst xmlns:a="http://schemas.openxmlformats.org/drawingml/2006/main">
              <a:ext uri="{FF2B5EF4-FFF2-40B4-BE49-F238E27FC236}">
                <a16:creationId xmlns:a16="http://schemas.microsoft.com/office/drawing/2014/main" id="{594A0FD4-2C34-4183-94B7-70A3E7E7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819A"/>
                </a:solidFill>
                <a:latin typeface="Arial"/>
                <a:ea typeface="Arial"/>
                <a:cs typeface="Arial"/>
              </a:rPr>
              <a:t>One project, evidence checklist, link preflight, and demo rehearsal.</a:t>
            </a:r>
          </a:p>
        </p:txBody>
      </p:sp>
      <p:sp>
        <p:nvSpPr>
          <p:cNvPr id="11" name="entry-points">
            <a:extLst xmlns:a="http://schemas.openxmlformats.org/drawingml/2006/main">
              <a:ext uri="{FF2B5EF4-FFF2-40B4-BE49-F238E27FC236}">
                <a16:creationId xmlns:a16="http://schemas.microsoft.com/office/drawing/2014/main" id="{16F517BD-15E2-4708-BFA8-4038249F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243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1617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1617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1617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1617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1617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1617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1617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1617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1617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16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161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7A"/>
                </a:solidFill>
                <a:latin typeface="Arial"/>
                <a:ea typeface="Arial"/>
                <a:cs typeface="Arial"/>
              </a:rPr>
              <a:t>• Self-serve signup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161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7A"/>
                </a:solidFill>
                <a:latin typeface="Arial"/>
                <a:ea typeface="Arial"/>
                <a:cs typeface="Arial"/>
              </a:rPr>
              <a:t>• Public demo and run sheet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161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7A"/>
                </a:solidFill>
                <a:latin typeface="Arial"/>
                <a:ea typeface="Arial"/>
                <a:cs typeface="Arial"/>
              </a:rPr>
              <a:t>• No paid plan until repeat use is clear</a:t>
            </a:r>
          </a:p>
        </p:txBody>
      </p:sp>
      <p:sp>
        <p:nvSpPr>
          <p:cNvPr id="12" name="expansion-rule">
            <a:extLst xmlns:a="http://schemas.openxmlformats.org/drawingml/2006/main">
              <a:ext uri="{FF2B5EF4-FFF2-40B4-BE49-F238E27FC236}">
                <a16:creationId xmlns:a16="http://schemas.microsoft.com/office/drawing/2014/main" id="{F6857051-55AA-4BDC-B87D-FC329C3C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05075"/>
            <a:ext cx="38100" cy="1914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xpansion-label">
            <a:extLst xmlns:a="http://schemas.openxmlformats.org/drawingml/2006/main">
              <a:ext uri="{FF2B5EF4-FFF2-40B4-BE49-F238E27FC236}">
                <a16:creationId xmlns:a16="http://schemas.microsoft.com/office/drawing/2014/main" id="{393CE3FB-C636-4F9B-B598-14052C33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05075"/>
            <a:ext cx="400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20A27B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20A27B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20A27B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20A27B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20A27B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20A27B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20A27B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20A27B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20A27B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20A2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20A27B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0A27B"/>
                </a:solidFill>
                <a:latin typeface="Arial"/>
                <a:ea typeface="Arial"/>
                <a:cs typeface="Arial"/>
              </a:rPr>
              <a:t>EXPANSION HYPOTHESIS</a:t>
            </a:r>
          </a:p>
        </p:txBody>
      </p:sp>
      <p:sp>
        <p:nvSpPr>
          <p:cNvPr id="14" name="expansion-title">
            <a:extLst xmlns:a="http://schemas.openxmlformats.org/drawingml/2006/main">
              <a:ext uri="{FF2B5EF4-FFF2-40B4-BE49-F238E27FC236}">
                <a16:creationId xmlns:a16="http://schemas.microsoft.com/office/drawing/2014/main" id="{821E330F-C701-49CB-8DDF-D526381F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987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54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41"/>
                </a:solidFill>
                <a:latin typeface="Arial"/>
                <a:ea typeface="Arial"/>
                <a:cs typeface="Arial"/>
              </a:rPr>
              <a:t>Team or mentor review</a:t>
            </a:r>
          </a:p>
        </p:txBody>
      </p:sp>
      <p:sp>
        <p:nvSpPr>
          <p:cNvPr id="15" name="expansion-detail">
            <a:extLst xmlns:a="http://schemas.openxmlformats.org/drawingml/2006/main">
              <a:ext uri="{FF2B5EF4-FFF2-40B4-BE49-F238E27FC236}">
                <a16:creationId xmlns:a16="http://schemas.microsoft.com/office/drawing/2014/main" id="{241BBF79-AC16-4062-898F-B603B8D1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38500"/>
            <a:ext cx="4143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73819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3819A"/>
                </a:solidFill>
                <a:latin typeface="Arial"/>
                <a:ea typeface="Arial"/>
                <a:cs typeface="Arial"/>
              </a:rPr>
              <a:t>Test whether cohorts need shared review notes and multiple projects.</a:t>
            </a:r>
          </a:p>
        </p:txBody>
      </p:sp>
      <p:sp>
        <p:nvSpPr>
          <p:cNvPr id="16" name="expansion-points">
            <a:extLst xmlns:a="http://schemas.openxmlformats.org/drawingml/2006/main">
              <a:ext uri="{FF2B5EF4-FFF2-40B4-BE49-F238E27FC236}">
                <a16:creationId xmlns:a16="http://schemas.microsoft.com/office/drawing/2014/main" id="{72B938A5-6FF5-4F08-BCE7-44C3CC16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2430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1617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1617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1617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1617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1617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1617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1617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1617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1617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16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161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7A"/>
                </a:solidFill>
                <a:latin typeface="Arial"/>
                <a:ea typeface="Arial"/>
                <a:cs typeface="Arial"/>
              </a:rPr>
              <a:t>• Observe how teams coordinate review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161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7A"/>
                </a:solidFill>
                <a:latin typeface="Arial"/>
                <a:ea typeface="Arial"/>
                <a:cs typeface="Arial"/>
              </a:rPr>
              <a:t>• Measure repeat use across a cohort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161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1617A"/>
                </a:solidFill>
                <a:latin typeface="Arial"/>
                <a:ea typeface="Arial"/>
                <a:cs typeface="Arial"/>
              </a:rPr>
              <a:t>• Test willingness to pay before billing</a:t>
            </a:r>
          </a:p>
        </p:txBody>
      </p:sp>
      <p:sp>
        <p:nvSpPr>
          <p:cNvPr id="17" name="experiment-band">
            <a:extLst xmlns:a="http://schemas.openxmlformats.org/drawingml/2006/main">
              <a:ext uri="{FF2B5EF4-FFF2-40B4-BE49-F238E27FC236}">
                <a16:creationId xmlns:a16="http://schemas.microsoft.com/office/drawing/2014/main" id="{47B4573F-9B9C-4978-8C64-87E3175F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144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experiment-label">
            <a:extLst xmlns:a="http://schemas.openxmlformats.org/drawingml/2006/main">
              <a:ext uri="{FF2B5EF4-FFF2-40B4-BE49-F238E27FC236}">
                <a16:creationId xmlns:a16="http://schemas.microsoft.com/office/drawing/2014/main" id="{A8D1B17C-326D-492B-97D3-4DBC9C5E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095875"/>
            <a:ext cx="1600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6C82BF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6C82BF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6C82BF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6C82BF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6C82BF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6C82BF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6C82BF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6C82BF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6C82BF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6C82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6C82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C82BF"/>
                </a:solidFill>
                <a:latin typeface="Arial"/>
                <a:ea typeface="Arial"/>
                <a:cs typeface="Arial"/>
              </a:rPr>
              <a:t>FIRST EXPERIMENT</a:t>
            </a:r>
          </a:p>
        </p:txBody>
      </p:sp>
      <p:sp>
        <p:nvSpPr>
          <p:cNvPr id="19" name="experiment-detail">
            <a:extLst xmlns:a="http://schemas.openxmlformats.org/drawingml/2006/main">
              <a:ext uri="{FF2B5EF4-FFF2-40B4-BE49-F238E27FC236}">
                <a16:creationId xmlns:a16="http://schemas.microsoft.com/office/drawing/2014/main" id="{7F6E9399-5D4F-409B-8589-E251AE84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305425"/>
            <a:ext cx="952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40578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40578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40578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40578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40578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40578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40578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40578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40578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4057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4057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05785"/>
                </a:solidFill>
                <a:latin typeface="Arial"/>
                <a:ea typeface="Arial"/>
                <a:cs typeface="Arial"/>
              </a:rPr>
              <a:t>Interview 3–5 recent capstone presenters, then share a tracked demo in one relevant student-builder community.</a:t>
            </a:r>
          </a:p>
        </p:txBody>
      </p:sp>
      <p:sp>
        <p:nvSpPr>
          <p:cNvPr id="20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27DCF574-90E4-4D45-AD36-A2B750DC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A55EFEED-AF3B-460F-8E85-D9491A7B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defPPr>
            <a:lvl1pPr algn="l"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lvl1pPr>
            <a:lvl2pPr algn="l"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lvl2pPr>
            <a:lvl3pPr algn="l"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lvl3pPr>
            <a:lvl4pPr algn="l"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lvl4pPr>
            <a:lvl5pPr algn="l"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lvl5pPr>
            <a:lvl6pPr algn="l"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lvl6pPr>
            <a:lvl7pPr algn="l"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lvl7pPr>
            <a:lvl8pPr algn="l"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lvl8pPr>
            <a:lvl9pPr algn="l"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600" b="1">
                <a:solidFill>
                  <a:srgbClr val="96A1B1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96A1B1"/>
                </a:solidFill>
                <a:latin typeface="Arial"/>
                <a:ea typeface="Arial"/>
                <a:cs typeface="Arial"/>
              </a:rPr>
              <a:t>CAPSTONECUE  ·  DEMO-DAY PREFLIGHT</a:t>
            </a:r>
          </a:p>
        </p:txBody>
      </p:sp>
    </p:spTree>
    <p:extLst>
      <p:ext uri="{BB962C8B-B14F-4D97-AF65-F5344CB8AC3E}">
        <p14:creationId xmlns:p14="http://schemas.microsoft.com/office/powerpoint/2010/main" val="5390795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62D5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rand-dot-6">
            <a:extLst xmlns:a="http://schemas.openxmlformats.org/drawingml/2006/main">
              <a:ext uri="{FF2B5EF4-FFF2-40B4-BE49-F238E27FC236}">
                <a16:creationId xmlns:a16="http://schemas.microsoft.com/office/drawing/2014/main" id="{D9502C74-58A0-47F6-BE84-34F2415F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9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c-6">
            <a:extLst xmlns:a="http://schemas.openxmlformats.org/drawingml/2006/main">
              <a:ext uri="{FF2B5EF4-FFF2-40B4-BE49-F238E27FC236}">
                <a16:creationId xmlns:a16="http://schemas.microsoft.com/office/drawing/2014/main" id="{5A6193DE-6DD7-4F7A-AE1F-099BB63B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428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" name="deck-label-6">
            <a:extLst xmlns:a="http://schemas.openxmlformats.org/drawingml/2006/main">
              <a:ext uri="{FF2B5EF4-FFF2-40B4-BE49-F238E27FC236}">
                <a16:creationId xmlns:a16="http://schemas.microsoft.com/office/drawing/2014/main" id="{F32E30C4-4EEB-4E94-8E8D-779A0174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76250"/>
            <a:ext cx="4286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C8D4E9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C8D4E9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C8D4E9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C8D4E9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C8D4E9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C8D4E9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C8D4E9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C8D4E9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C8D4E9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C8D4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8D4E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C8D4E9"/>
                </a:solidFill>
                <a:latin typeface="Arial"/>
                <a:ea typeface="Arial"/>
                <a:cs typeface="Arial"/>
              </a:rPr>
              <a:t>EVIDENCE AND NEXT ASK</a:t>
            </a:r>
          </a:p>
        </p:txBody>
      </p:sp>
      <p:sp>
        <p:nvSpPr>
          <p:cNvPr id="4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5E14AFF5-B852-4CB8-BDBF-FFF27B50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647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675" b="1">
                <a:solidFill>
                  <a:srgbClr val="9FB0D0"/>
                </a:solidFill>
                <a:latin typeface="Arial"/>
                <a:ea typeface="Arial"/>
                <a:cs typeface="Arial"/>
              </a:defRPr>
            </a:defPPr>
            <a:lvl1pPr algn="r">
              <a:defRPr sz="675" b="1">
                <a:solidFill>
                  <a:srgbClr val="9FB0D0"/>
                </a:solidFill>
                <a:latin typeface="Arial"/>
                <a:ea typeface="Arial"/>
                <a:cs typeface="Arial"/>
              </a:defRPr>
            </a:lvl1pPr>
            <a:lvl2pPr algn="r">
              <a:defRPr sz="675" b="1">
                <a:solidFill>
                  <a:srgbClr val="9FB0D0"/>
                </a:solidFill>
                <a:latin typeface="Arial"/>
                <a:ea typeface="Arial"/>
                <a:cs typeface="Arial"/>
              </a:defRPr>
            </a:lvl2pPr>
            <a:lvl3pPr algn="r">
              <a:defRPr sz="675" b="1">
                <a:solidFill>
                  <a:srgbClr val="9FB0D0"/>
                </a:solidFill>
                <a:latin typeface="Arial"/>
                <a:ea typeface="Arial"/>
                <a:cs typeface="Arial"/>
              </a:defRPr>
            </a:lvl3pPr>
            <a:lvl4pPr algn="r">
              <a:defRPr sz="675" b="1">
                <a:solidFill>
                  <a:srgbClr val="9FB0D0"/>
                </a:solidFill>
                <a:latin typeface="Arial"/>
                <a:ea typeface="Arial"/>
                <a:cs typeface="Arial"/>
              </a:defRPr>
            </a:lvl4pPr>
            <a:lvl5pPr algn="r">
              <a:defRPr sz="675" b="1">
                <a:solidFill>
                  <a:srgbClr val="9FB0D0"/>
                </a:solidFill>
                <a:latin typeface="Arial"/>
                <a:ea typeface="Arial"/>
                <a:cs typeface="Arial"/>
              </a:defRPr>
            </a:lvl5pPr>
            <a:lvl6pPr algn="r">
              <a:defRPr sz="675" b="1">
                <a:solidFill>
                  <a:srgbClr val="9FB0D0"/>
                </a:solidFill>
                <a:latin typeface="Arial"/>
                <a:ea typeface="Arial"/>
                <a:cs typeface="Arial"/>
              </a:defRPr>
            </a:lvl6pPr>
            <a:lvl7pPr algn="r">
              <a:defRPr sz="675" b="1">
                <a:solidFill>
                  <a:srgbClr val="9FB0D0"/>
                </a:solidFill>
                <a:latin typeface="Arial"/>
                <a:ea typeface="Arial"/>
                <a:cs typeface="Arial"/>
              </a:defRPr>
            </a:lvl7pPr>
            <a:lvl8pPr algn="r">
              <a:defRPr sz="675" b="1">
                <a:solidFill>
                  <a:srgbClr val="9FB0D0"/>
                </a:solidFill>
                <a:latin typeface="Arial"/>
                <a:ea typeface="Arial"/>
                <a:cs typeface="Arial"/>
              </a:defRPr>
            </a:lvl8pPr>
            <a:lvl9pPr algn="r">
              <a:defRPr sz="675" b="1">
                <a:solidFill>
                  <a:srgbClr val="9FB0D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675" b="1">
                <a:solidFill>
                  <a:srgbClr val="9FB0D0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9FB0D0"/>
                </a:solidFill>
                <a:latin typeface="Arial"/>
                <a:ea typeface="Arial"/>
                <a:cs typeface="Arial"/>
              </a:rPr>
              <a:t>06 / 06</a:t>
            </a:r>
          </a:p>
        </p:txBody>
      </p:sp>
      <p:sp>
        <p:nvSpPr>
          <p:cNvPr id="5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597BEA73-C3E8-432A-A3E8-8B477A56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10001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is proven—and what is still a hypothesis</a:t>
            </a:r>
          </a:p>
        </p:txBody>
      </p:sp>
      <p:sp>
        <p:nvSpPr>
          <p:cNvPr id="6" name="implemented-marker">
            <a:extLst xmlns:a="http://schemas.openxmlformats.org/drawingml/2006/main">
              <a:ext uri="{FF2B5EF4-FFF2-40B4-BE49-F238E27FC236}">
                <a16:creationId xmlns:a16="http://schemas.microsoft.com/office/drawing/2014/main" id="{A80BF277-85A8-4DFB-9D9A-1AFD8A8D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mplemented-label">
            <a:extLst xmlns:a="http://schemas.openxmlformats.org/drawingml/2006/main">
              <a:ext uri="{FF2B5EF4-FFF2-40B4-BE49-F238E27FC236}">
                <a16:creationId xmlns:a16="http://schemas.microsoft.com/office/drawing/2014/main" id="{DE39D8CE-CDDD-43DF-83F7-23548183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3429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AFC1EC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AFC1EC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AFC1EC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AFC1EC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AFC1EC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AFC1EC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AFC1EC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AFC1EC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AFC1EC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AFC1E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AFC1E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FC1EC"/>
                </a:solidFill>
                <a:latin typeface="Arial"/>
                <a:ea typeface="Arial"/>
                <a:cs typeface="Arial"/>
              </a:rPr>
              <a:t>IN THE CODE</a:t>
            </a:r>
          </a:p>
        </p:txBody>
      </p:sp>
      <p:sp>
        <p:nvSpPr>
          <p:cNvPr id="8" name="implemented-head">
            <a:extLst xmlns:a="http://schemas.openxmlformats.org/drawingml/2006/main">
              <a:ext uri="{FF2B5EF4-FFF2-40B4-BE49-F238E27FC236}">
                <a16:creationId xmlns:a16="http://schemas.microsoft.com/office/drawing/2014/main" id="{A81964C6-C299-4A3C-942B-232BCB47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43175"/>
            <a:ext cx="4048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Prototype workflow</a:t>
            </a:r>
          </a:p>
        </p:txBody>
      </p:sp>
      <p:sp>
        <p:nvSpPr>
          <p:cNvPr id="9" name="implemented-list">
            <a:extLst xmlns:a="http://schemas.openxmlformats.org/drawingml/2006/main">
              <a:ext uri="{FF2B5EF4-FFF2-40B4-BE49-F238E27FC236}">
                <a16:creationId xmlns:a16="http://schemas.microsoft.com/office/drawing/2014/main" id="{BAABB195-FEE3-4DFB-AC2C-98BECEC9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00375"/>
            <a:ext cx="44767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D0DBE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D0DBE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D0DBE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D0DBE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D0DBE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D0DBE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D0DBE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D0DBE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D0DBE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D0DB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D0DBE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0DBEF"/>
                </a:solidFill>
                <a:latin typeface="Arial"/>
                <a:ea typeface="Arial"/>
                <a:cs typeface="Arial"/>
              </a:rPr>
              <a:t>• Evidence checklist and status tracking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D0DBE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0DBEF"/>
                </a:solidFill>
                <a:latin typeface="Arial"/>
                <a:ea typeface="Arial"/>
                <a:cs typeface="Arial"/>
              </a:rPr>
              <a:t>• Supabase Auth + private Postgres model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D0DBE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0DBEF"/>
                </a:solidFill>
                <a:latin typeface="Arial"/>
                <a:ea typeface="Arial"/>
                <a:cs typeface="Arial"/>
              </a:rPr>
              <a:t>• Public GitHub / Vercel checks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D0DBE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0DBEF"/>
                </a:solidFill>
                <a:latin typeface="Arial"/>
                <a:ea typeface="Arial"/>
                <a:cs typeface="Arial"/>
              </a:rPr>
              <a:t>• Six-slide pitch and timed demo rehearsal</a:t>
            </a:r>
          </a:p>
        </p:txBody>
      </p:sp>
      <p:sp>
        <p:nvSpPr>
          <p:cNvPr id="10" name="implemented-caveat">
            <a:extLst xmlns:a="http://schemas.openxmlformats.org/drawingml/2006/main">
              <a:ext uri="{FF2B5EF4-FFF2-40B4-BE49-F238E27FC236}">
                <a16:creationId xmlns:a16="http://schemas.microsoft.com/office/drawing/2014/main" id="{7A4B9568-467F-4801-B2AA-DB313033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767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B6C6E3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B6C6E3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B6C6E3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B6C6E3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B6C6E3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B6C6E3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B6C6E3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B6C6E3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B6C6E3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B6C6E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B6C6E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6C6E3"/>
                </a:solidFill>
                <a:latin typeface="Arial"/>
                <a:ea typeface="Arial"/>
                <a:cs typeface="Arial"/>
              </a:rPr>
              <a:t>Database and account features require a configured Supabase project.</a:t>
            </a:r>
          </a:p>
        </p:txBody>
      </p:sp>
      <p:sp>
        <p:nvSpPr>
          <p:cNvPr id="11" name="unknown-marker">
            <a:extLst xmlns:a="http://schemas.openxmlformats.org/drawingml/2006/main">
              <a:ext uri="{FF2B5EF4-FFF2-40B4-BE49-F238E27FC236}">
                <a16:creationId xmlns:a16="http://schemas.microsoft.com/office/drawing/2014/main" id="{2E33AEDF-F989-435E-B903-24E76752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38375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unknown-label">
            <a:extLst xmlns:a="http://schemas.openxmlformats.org/drawingml/2006/main">
              <a:ext uri="{FF2B5EF4-FFF2-40B4-BE49-F238E27FC236}">
                <a16:creationId xmlns:a16="http://schemas.microsoft.com/office/drawing/2014/main" id="{70B1FDAF-FA38-450F-AE10-50574D8F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38375"/>
            <a:ext cx="3905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E6C779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E6C779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E6C779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E6C779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E6C779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E6C779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E6C779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E6C779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E6C779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E6C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E6C77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6C779"/>
                </a:solidFill>
                <a:latin typeface="Arial"/>
                <a:ea typeface="Arial"/>
                <a:cs typeface="Arial"/>
              </a:rPr>
              <a:t>NOT YET ESTABLISHED</a:t>
            </a:r>
          </a:p>
        </p:txBody>
      </p:sp>
      <p:sp>
        <p:nvSpPr>
          <p:cNvPr id="13" name="unknown-head">
            <a:extLst xmlns:a="http://schemas.openxmlformats.org/drawingml/2006/main">
              <a:ext uri="{FF2B5EF4-FFF2-40B4-BE49-F238E27FC236}">
                <a16:creationId xmlns:a16="http://schemas.microsoft.com/office/drawing/2014/main" id="{A07E5E2E-DFEE-4F06-A4AE-3FB26BFF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43175"/>
            <a:ext cx="419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Validation and traction</a:t>
            </a:r>
          </a:p>
        </p:txBody>
      </p:sp>
      <p:sp>
        <p:nvSpPr>
          <p:cNvPr id="14" name="unknown-list">
            <a:extLst xmlns:a="http://schemas.openxmlformats.org/drawingml/2006/main">
              <a:ext uri="{FF2B5EF4-FFF2-40B4-BE49-F238E27FC236}">
                <a16:creationId xmlns:a16="http://schemas.microsoft.com/office/drawing/2014/main" id="{C2287EEE-9503-4CB6-8ABA-1389E587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00375"/>
            <a:ext cx="43815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D0DBE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D0DBE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D0DBE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D0DBE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D0DBE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D0DBE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D0DBE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D0DBE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D0DBE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D0DB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D0DBE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0DBEF"/>
                </a:solidFill>
                <a:latin typeface="Arial"/>
                <a:ea typeface="Arial"/>
                <a:cs typeface="Arial"/>
              </a:rPr>
              <a:t>• External student interviews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D0DBE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0DBEF"/>
                </a:solidFill>
                <a:latin typeface="Arial"/>
                <a:ea typeface="Arial"/>
                <a:cs typeface="Arial"/>
              </a:rPr>
              <a:t>• Ten real users or repeat use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D0DBE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0DBEF"/>
                </a:solidFill>
                <a:latin typeface="Arial"/>
                <a:ea typeface="Arial"/>
                <a:cs typeface="Arial"/>
              </a:rPr>
              <a:t>• Willingness to pay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D0DBE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0DBEF"/>
                </a:solidFill>
                <a:latin typeface="Arial"/>
                <a:ea typeface="Arial"/>
                <a:cs typeface="Arial"/>
              </a:rPr>
              <a:t>• Production deployment and DB proof</a:t>
            </a:r>
          </a:p>
        </p:txBody>
      </p:sp>
      <p:sp>
        <p:nvSpPr>
          <p:cNvPr id="15" name="unknown-caveat">
            <a:extLst xmlns:a="http://schemas.openxmlformats.org/drawingml/2006/main">
              <a:ext uri="{FF2B5EF4-FFF2-40B4-BE49-F238E27FC236}">
                <a16:creationId xmlns:a16="http://schemas.microsoft.com/office/drawing/2014/main" id="{F91AE1EE-7DCD-4F6D-BCCA-E0322708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7672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B6C6E3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0">
                <a:solidFill>
                  <a:srgbClr val="B6C6E3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0">
                <a:solidFill>
                  <a:srgbClr val="B6C6E3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0">
                <a:solidFill>
                  <a:srgbClr val="B6C6E3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0">
                <a:solidFill>
                  <a:srgbClr val="B6C6E3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0">
                <a:solidFill>
                  <a:srgbClr val="B6C6E3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0">
                <a:solidFill>
                  <a:srgbClr val="B6C6E3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0">
                <a:solidFill>
                  <a:srgbClr val="B6C6E3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0">
                <a:solidFill>
                  <a:srgbClr val="B6C6E3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0">
                <a:solidFill>
                  <a:srgbClr val="B6C6E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B6C6E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6C6E3"/>
                </a:solidFill>
                <a:latin typeface="Arial"/>
                <a:ea typeface="Arial"/>
                <a:cs typeface="Arial"/>
              </a:rPr>
              <a:t>No external interviews or signups are claimed in this draft.</a:t>
            </a:r>
          </a:p>
        </p:txBody>
      </p:sp>
      <p:sp>
        <p:nvSpPr>
          <p:cNvPr id="16" name="ask-band">
            <a:extLst xmlns:a="http://schemas.openxmlformats.org/drawingml/2006/main">
              <a:ext uri="{FF2B5EF4-FFF2-40B4-BE49-F238E27FC236}">
                <a16:creationId xmlns:a16="http://schemas.microsoft.com/office/drawing/2014/main" id="{F45A7052-0FE0-459E-9951-EC820FD9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1441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sk-label">
            <a:extLst xmlns:a="http://schemas.openxmlformats.org/drawingml/2006/main">
              <a:ext uri="{FF2B5EF4-FFF2-40B4-BE49-F238E27FC236}">
                <a16:creationId xmlns:a16="http://schemas.microsoft.com/office/drawing/2014/main" id="{8AFA608B-E733-48ED-AB9C-56A2DD84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53025"/>
            <a:ext cx="1238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50" b="1">
                <a:solidFill>
                  <a:srgbClr val="AFC1EC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1">
                <a:solidFill>
                  <a:srgbClr val="AFC1EC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1">
                <a:solidFill>
                  <a:srgbClr val="AFC1EC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1">
                <a:solidFill>
                  <a:srgbClr val="AFC1EC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1">
                <a:solidFill>
                  <a:srgbClr val="AFC1EC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1">
                <a:solidFill>
                  <a:srgbClr val="AFC1EC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1">
                <a:solidFill>
                  <a:srgbClr val="AFC1EC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1">
                <a:solidFill>
                  <a:srgbClr val="AFC1EC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1">
                <a:solidFill>
                  <a:srgbClr val="AFC1EC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1">
                <a:solidFill>
                  <a:srgbClr val="AFC1E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AFC1E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FC1EC"/>
                </a:solidFill>
                <a:latin typeface="Arial"/>
                <a:ea typeface="Arial"/>
                <a:cs typeface="Arial"/>
              </a:rPr>
              <a:t>NEXT ASK</a:t>
            </a:r>
          </a:p>
        </p:txBody>
      </p:sp>
      <p:sp>
        <p:nvSpPr>
          <p:cNvPr id="18" name="ask-text">
            <a:extLst xmlns:a="http://schemas.openxmlformats.org/drawingml/2006/main">
              <a:ext uri="{FF2B5EF4-FFF2-40B4-BE49-F238E27FC236}">
                <a16:creationId xmlns:a16="http://schemas.microsoft.com/office/drawing/2014/main" id="{56953709-F455-4B66-AD6C-4D813396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530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Introductions to recent capstone presenters and a mentor to challenge the evidence and pricing assumptions.</a:t>
            </a:r>
          </a:p>
        </p:txBody>
      </p:sp>
      <p:sp>
        <p:nvSpPr>
          <p:cNvPr id="19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484D19AD-6380-499D-A9DF-6DE6C995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51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brand-6">
            <a:extLst xmlns:a="http://schemas.openxmlformats.org/drawingml/2006/main">
              <a:ext uri="{FF2B5EF4-FFF2-40B4-BE49-F238E27FC236}">
                <a16:creationId xmlns:a16="http://schemas.microsoft.com/office/drawing/2014/main" id="{EBC6D3D6-279B-4F26-96A8-2E1A93B8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0"/>
            <a:ext cx="476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600" b="1">
                <a:solidFill>
                  <a:srgbClr val="B4C1DB"/>
                </a:solidFill>
                <a:latin typeface="Arial"/>
                <a:ea typeface="Arial"/>
                <a:cs typeface="Arial"/>
              </a:defRPr>
            </a:defPPr>
            <a:lvl1pPr algn="l">
              <a:defRPr sz="600" b="1">
                <a:solidFill>
                  <a:srgbClr val="B4C1DB"/>
                </a:solidFill>
                <a:latin typeface="Arial"/>
                <a:ea typeface="Arial"/>
                <a:cs typeface="Arial"/>
              </a:defRPr>
            </a:lvl1pPr>
            <a:lvl2pPr algn="l">
              <a:defRPr sz="600" b="1">
                <a:solidFill>
                  <a:srgbClr val="B4C1DB"/>
                </a:solidFill>
                <a:latin typeface="Arial"/>
                <a:ea typeface="Arial"/>
                <a:cs typeface="Arial"/>
              </a:defRPr>
            </a:lvl2pPr>
            <a:lvl3pPr algn="l">
              <a:defRPr sz="600" b="1">
                <a:solidFill>
                  <a:srgbClr val="B4C1DB"/>
                </a:solidFill>
                <a:latin typeface="Arial"/>
                <a:ea typeface="Arial"/>
                <a:cs typeface="Arial"/>
              </a:defRPr>
            </a:lvl3pPr>
            <a:lvl4pPr algn="l">
              <a:defRPr sz="600" b="1">
                <a:solidFill>
                  <a:srgbClr val="B4C1DB"/>
                </a:solidFill>
                <a:latin typeface="Arial"/>
                <a:ea typeface="Arial"/>
                <a:cs typeface="Arial"/>
              </a:defRPr>
            </a:lvl4pPr>
            <a:lvl5pPr algn="l">
              <a:defRPr sz="600" b="1">
                <a:solidFill>
                  <a:srgbClr val="B4C1DB"/>
                </a:solidFill>
                <a:latin typeface="Arial"/>
                <a:ea typeface="Arial"/>
                <a:cs typeface="Arial"/>
              </a:defRPr>
            </a:lvl5pPr>
            <a:lvl6pPr algn="l">
              <a:defRPr sz="600" b="1">
                <a:solidFill>
                  <a:srgbClr val="B4C1DB"/>
                </a:solidFill>
                <a:latin typeface="Arial"/>
                <a:ea typeface="Arial"/>
                <a:cs typeface="Arial"/>
              </a:defRPr>
            </a:lvl6pPr>
            <a:lvl7pPr algn="l">
              <a:defRPr sz="600" b="1">
                <a:solidFill>
                  <a:srgbClr val="B4C1DB"/>
                </a:solidFill>
                <a:latin typeface="Arial"/>
                <a:ea typeface="Arial"/>
                <a:cs typeface="Arial"/>
              </a:defRPr>
            </a:lvl7pPr>
            <a:lvl8pPr algn="l">
              <a:defRPr sz="600" b="1">
                <a:solidFill>
                  <a:srgbClr val="B4C1DB"/>
                </a:solidFill>
                <a:latin typeface="Arial"/>
                <a:ea typeface="Arial"/>
                <a:cs typeface="Arial"/>
              </a:defRPr>
            </a:lvl8pPr>
            <a:lvl9pPr algn="l">
              <a:defRPr sz="600" b="1">
                <a:solidFill>
                  <a:srgbClr val="B4C1D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600" b="1">
                <a:solidFill>
                  <a:srgbClr val="B4C1DB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B4C1DB"/>
                </a:solidFill>
                <a:latin typeface="Arial"/>
                <a:ea typeface="Arial"/>
                <a:cs typeface="Arial"/>
              </a:rPr>
              <a:t>CAPSTONECUE  ·  DEMO-DAY PREFLIGHT</a:t>
            </a:r>
          </a:p>
        </p:txBody>
      </p:sp>
    </p:spTree>
    <p:extLst>
      <p:ext uri="{BB962C8B-B14F-4D97-AF65-F5344CB8AC3E}">
        <p14:creationId xmlns:p14="http://schemas.microsoft.com/office/powerpoint/2010/main" val="7351052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2026-10-27T10:59:50.8590000Z</dcterms:created>
  <dcterms:modified xsi:type="dcterms:W3CDTF">2026-10-27T10:59:50.8590000Z</dcterms:modified>
</coreProperties>
</file>